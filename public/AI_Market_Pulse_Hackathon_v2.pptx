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638" r:id="rId2"/>
    <p:sldId id="639" r:id="rId3"/>
    <p:sldId id="640" r:id="rId4"/>
    <p:sldId id="641" r:id="rId5"/>
    <p:sldId id="642" r:id="rId6"/>
    <p:sldId id="643" r:id="rId7"/>
    <p:sldId id="644" r:id="rId8"/>
    <p:sldId id="64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E3F9F8"/>
    <a:srgbClr val="ED8A59"/>
    <a:srgbClr val="FFC85B"/>
    <a:srgbClr val="BECA78"/>
    <a:srgbClr val="C0CB7B"/>
    <a:srgbClr val="CDD696"/>
    <a:srgbClr val="DDE3B7"/>
    <a:srgbClr val="FFF0C1"/>
    <a:srgbClr val="F8C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3" autoAdjust="0"/>
    <p:restoredTop sz="92457" autoAdjust="0"/>
  </p:normalViewPr>
  <p:slideViewPr>
    <p:cSldViewPr snapToGrid="0">
      <p:cViewPr>
        <p:scale>
          <a:sx n="100" d="100"/>
          <a:sy n="100" d="100"/>
        </p:scale>
        <p:origin x="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CB40E-CFAB-4B9E-B18D-5F576E46964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62332-114F-46E1-A9FD-ABC8E0AAE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44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62332-114F-46E1-A9FD-ABC8E0AAE5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00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62332-114F-46E1-A9FD-ABC8E0AAE5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2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4B1C6-1F4F-47DF-B17C-B439F649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8819C-1B27-C2FB-D59E-71F505C37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823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CA96-F521-80DA-95C6-DD1ECD65D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966"/>
            <a:ext cx="8986520" cy="5800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22A30-7844-3DAD-A6F9-3F55BAA39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920"/>
            <a:ext cx="10515600" cy="486664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9582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141F30-9607-5F7D-375F-7A150ADC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966"/>
            <a:ext cx="8986520" cy="5800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662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9C526-D565-0EDF-5A27-7E3A965DB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04264"/>
            <a:ext cx="5181600" cy="492061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C9E41-263C-9098-9F1A-873CAA08A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04264"/>
            <a:ext cx="5181600" cy="492061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AC0875B-619A-D29A-9488-4EEEE97A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966"/>
            <a:ext cx="8986520" cy="5800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9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5FCBA-CD5B-8BAC-3E1C-48383D21C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0204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1F74F-7E83-B68E-DD9E-BAED8A87F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25954"/>
            <a:ext cx="5157787" cy="408876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07F93-A201-9ECA-D4A7-F39735D69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0204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E7874B-F464-D2AA-3801-C731D7D53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5954"/>
            <a:ext cx="5183188" cy="408876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E5633BF-2129-7AEA-2490-5BEC468B2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966"/>
            <a:ext cx="8986520" cy="5800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7163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 Seperator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5E09E69-6BEC-A711-8F50-0524D899B442}"/>
              </a:ext>
            </a:extLst>
          </p:cNvPr>
          <p:cNvSpPr/>
          <p:nvPr userDrawn="1"/>
        </p:nvSpPr>
        <p:spPr>
          <a:xfrm>
            <a:off x="1311282" y="0"/>
            <a:ext cx="4032878" cy="3429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B4D851-38EC-1E94-F1BC-B143A91AB9F6}"/>
              </a:ext>
            </a:extLst>
          </p:cNvPr>
          <p:cNvCxnSpPr>
            <a:cxnSpLocks/>
          </p:cNvCxnSpPr>
          <p:nvPr userDrawn="1"/>
        </p:nvCxnSpPr>
        <p:spPr>
          <a:xfrm>
            <a:off x="1849441" y="2976880"/>
            <a:ext cx="295656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081EFE1A-AC01-EBE2-BCC7-A0309C96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432" y="490537"/>
            <a:ext cx="3576578" cy="1325563"/>
          </a:xfrm>
          <a:prstGeom prst="rect">
            <a:avLst/>
          </a:prstGeom>
        </p:spPr>
        <p:txBody>
          <a:bodyPr/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654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93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1115-7DFA-258C-609B-7D5CA5E2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566DB-FB1E-C485-C84A-87BA72FF1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A2C4D-8320-4C73-0164-BAA08A61A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687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5EB2-4DAA-7A5A-6367-AC8824070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D7CB8-A9FC-B7DF-BA83-AEF0ADAF5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1BF62-B157-6CCD-007E-0C373A728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225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270EF-DBC7-8630-959D-3F9B83BE4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7280"/>
            <a:ext cx="10515600" cy="4968240"/>
          </a:xfrm>
          <a:prstGeom prst="rect">
            <a:avLst/>
          </a:prstGeom>
        </p:spPr>
        <p:txBody>
          <a:bodyPr vert="eaVert"/>
          <a:lstStyle>
            <a:lvl1pPr>
              <a:defRPr sz="18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3D462D-EF80-E28A-AED2-3C33BD03E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966"/>
            <a:ext cx="8986520" cy="5800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67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B34B629-662D-AC73-3111-4BC2B57CBB89}"/>
              </a:ext>
            </a:extLst>
          </p:cNvPr>
          <p:cNvSpPr/>
          <p:nvPr userDrawn="1"/>
        </p:nvSpPr>
        <p:spPr>
          <a:xfrm>
            <a:off x="9816465" y="-1"/>
            <a:ext cx="2375535" cy="82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7C3678B-05AF-EFF5-3563-FA909F9ED58C}"/>
              </a:ext>
            </a:extLst>
          </p:cNvPr>
          <p:cNvSpPr/>
          <p:nvPr userDrawn="1"/>
        </p:nvSpPr>
        <p:spPr>
          <a:xfrm>
            <a:off x="0" y="-1"/>
            <a:ext cx="11230404" cy="828001"/>
          </a:xfrm>
          <a:custGeom>
            <a:avLst/>
            <a:gdLst>
              <a:gd name="connsiteX0" fmla="*/ 10582735 w 11230404"/>
              <a:gd name="connsiteY0" fmla="*/ 1 h 828001"/>
              <a:gd name="connsiteX1" fmla="*/ 11230404 w 11230404"/>
              <a:gd name="connsiteY1" fmla="*/ 1 h 828001"/>
              <a:gd name="connsiteX2" fmla="*/ 10582735 w 11230404"/>
              <a:gd name="connsiteY2" fmla="*/ 828001 h 828001"/>
              <a:gd name="connsiteX3" fmla="*/ 0 w 11230404"/>
              <a:gd name="connsiteY3" fmla="*/ 0 h 828001"/>
              <a:gd name="connsiteX4" fmla="*/ 914400 w 11230404"/>
              <a:gd name="connsiteY4" fmla="*/ 0 h 828001"/>
              <a:gd name="connsiteX5" fmla="*/ 914400 w 11230404"/>
              <a:gd name="connsiteY5" fmla="*/ 1 h 828001"/>
              <a:gd name="connsiteX6" fmla="*/ 10391727 w 11230404"/>
              <a:gd name="connsiteY6" fmla="*/ 1 h 828001"/>
              <a:gd name="connsiteX7" fmla="*/ 10495684 w 11230404"/>
              <a:gd name="connsiteY7" fmla="*/ 1 h 828001"/>
              <a:gd name="connsiteX8" fmla="*/ 10582712 w 11230404"/>
              <a:gd name="connsiteY8" fmla="*/ 1 h 828001"/>
              <a:gd name="connsiteX9" fmla="*/ 10582712 w 11230404"/>
              <a:gd name="connsiteY9" fmla="*/ 828001 h 828001"/>
              <a:gd name="connsiteX10" fmla="*/ 10495684 w 11230404"/>
              <a:gd name="connsiteY10" fmla="*/ 828001 h 828001"/>
              <a:gd name="connsiteX11" fmla="*/ 10391727 w 11230404"/>
              <a:gd name="connsiteY11" fmla="*/ 828001 h 828001"/>
              <a:gd name="connsiteX12" fmla="*/ 820420 w 11230404"/>
              <a:gd name="connsiteY12" fmla="*/ 828001 h 828001"/>
              <a:gd name="connsiteX13" fmla="*/ 820420 w 11230404"/>
              <a:gd name="connsiteY13" fmla="*/ 828000 h 828001"/>
              <a:gd name="connsiteX14" fmla="*/ 0 w 11230404"/>
              <a:gd name="connsiteY14" fmla="*/ 828000 h 82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230404" h="828001">
                <a:moveTo>
                  <a:pt x="10582735" y="1"/>
                </a:moveTo>
                <a:lnTo>
                  <a:pt x="11230404" y="1"/>
                </a:lnTo>
                <a:lnTo>
                  <a:pt x="10582735" y="828001"/>
                </a:lnTo>
                <a:close/>
                <a:moveTo>
                  <a:pt x="0" y="0"/>
                </a:moveTo>
                <a:lnTo>
                  <a:pt x="914400" y="0"/>
                </a:lnTo>
                <a:lnTo>
                  <a:pt x="914400" y="1"/>
                </a:lnTo>
                <a:lnTo>
                  <a:pt x="10391727" y="1"/>
                </a:lnTo>
                <a:lnTo>
                  <a:pt x="10495684" y="1"/>
                </a:lnTo>
                <a:lnTo>
                  <a:pt x="10582712" y="1"/>
                </a:lnTo>
                <a:lnTo>
                  <a:pt x="10582712" y="828001"/>
                </a:lnTo>
                <a:lnTo>
                  <a:pt x="10495684" y="828001"/>
                </a:lnTo>
                <a:lnTo>
                  <a:pt x="10391727" y="828001"/>
                </a:lnTo>
                <a:lnTo>
                  <a:pt x="820420" y="828001"/>
                </a:lnTo>
                <a:lnTo>
                  <a:pt x="820420" y="828000"/>
                </a:lnTo>
                <a:lnTo>
                  <a:pt x="0" y="82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8F01C2D-C84E-8F48-402D-0743C1276CFE}"/>
              </a:ext>
            </a:extLst>
          </p:cNvPr>
          <p:cNvSpPr/>
          <p:nvPr userDrawn="1"/>
        </p:nvSpPr>
        <p:spPr>
          <a:xfrm>
            <a:off x="0" y="0"/>
            <a:ext cx="838677" cy="828000"/>
          </a:xfrm>
          <a:custGeom>
            <a:avLst/>
            <a:gdLst>
              <a:gd name="connsiteX0" fmla="*/ 191008 w 838677"/>
              <a:gd name="connsiteY0" fmla="*/ 0 h 828000"/>
              <a:gd name="connsiteX1" fmla="*/ 838677 w 838677"/>
              <a:gd name="connsiteY1" fmla="*/ 828000 h 828000"/>
              <a:gd name="connsiteX2" fmla="*/ 191008 w 838677"/>
              <a:gd name="connsiteY2" fmla="*/ 828000 h 828000"/>
              <a:gd name="connsiteX3" fmla="*/ 0 w 838677"/>
              <a:gd name="connsiteY3" fmla="*/ 0 h 828000"/>
              <a:gd name="connsiteX4" fmla="*/ 190985 w 838677"/>
              <a:gd name="connsiteY4" fmla="*/ 0 h 828000"/>
              <a:gd name="connsiteX5" fmla="*/ 190985 w 838677"/>
              <a:gd name="connsiteY5" fmla="*/ 828000 h 828000"/>
              <a:gd name="connsiteX6" fmla="*/ 0 w 838677"/>
              <a:gd name="connsiteY6" fmla="*/ 828000 h 8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677" h="828000">
                <a:moveTo>
                  <a:pt x="191008" y="0"/>
                </a:moveTo>
                <a:lnTo>
                  <a:pt x="838677" y="828000"/>
                </a:lnTo>
                <a:lnTo>
                  <a:pt x="191008" y="828000"/>
                </a:lnTo>
                <a:close/>
                <a:moveTo>
                  <a:pt x="0" y="0"/>
                </a:moveTo>
                <a:lnTo>
                  <a:pt x="190985" y="0"/>
                </a:lnTo>
                <a:lnTo>
                  <a:pt x="190985" y="828000"/>
                </a:lnTo>
                <a:lnTo>
                  <a:pt x="0" y="82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11" name="Picture 10" descr="A picture containing screenshot, triangle, font, line&#10;&#10;Description automatically generated">
            <a:extLst>
              <a:ext uri="{FF2B5EF4-FFF2-40B4-BE49-F238E27FC236}">
                <a16:creationId xmlns:a16="http://schemas.microsoft.com/office/drawing/2014/main" id="{E24E8D50-460B-D3F1-C619-DC206238E01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0599" y="115476"/>
            <a:ext cx="835554" cy="598264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C630A8-3E32-CEB3-DBD9-E745C62F63CA}"/>
              </a:ext>
            </a:extLst>
          </p:cNvPr>
          <p:cNvSpPr/>
          <p:nvPr userDrawn="1"/>
        </p:nvSpPr>
        <p:spPr>
          <a:xfrm>
            <a:off x="0" y="864000"/>
            <a:ext cx="3460215" cy="36000"/>
          </a:xfrm>
          <a:custGeom>
            <a:avLst/>
            <a:gdLst>
              <a:gd name="connsiteX0" fmla="*/ 3435364 w 3460215"/>
              <a:gd name="connsiteY0" fmla="*/ 0 h 36000"/>
              <a:gd name="connsiteX1" fmla="*/ 3460215 w 3460215"/>
              <a:gd name="connsiteY1" fmla="*/ 0 h 36000"/>
              <a:gd name="connsiteX2" fmla="*/ 3435364 w 3460215"/>
              <a:gd name="connsiteY2" fmla="*/ 36000 h 36000"/>
              <a:gd name="connsiteX3" fmla="*/ 0 w 3460215"/>
              <a:gd name="connsiteY3" fmla="*/ 0 h 36000"/>
              <a:gd name="connsiteX4" fmla="*/ 3060782 w 3460215"/>
              <a:gd name="connsiteY4" fmla="*/ 0 h 36000"/>
              <a:gd name="connsiteX5" fmla="*/ 3096000 w 3460215"/>
              <a:gd name="connsiteY5" fmla="*/ 0 h 36000"/>
              <a:gd name="connsiteX6" fmla="*/ 3428035 w 3460215"/>
              <a:gd name="connsiteY6" fmla="*/ 0 h 36000"/>
              <a:gd name="connsiteX7" fmla="*/ 3432024 w 3460215"/>
              <a:gd name="connsiteY7" fmla="*/ 0 h 36000"/>
              <a:gd name="connsiteX8" fmla="*/ 3435363 w 3460215"/>
              <a:gd name="connsiteY8" fmla="*/ 0 h 36000"/>
              <a:gd name="connsiteX9" fmla="*/ 3435363 w 3460215"/>
              <a:gd name="connsiteY9" fmla="*/ 36000 h 36000"/>
              <a:gd name="connsiteX10" fmla="*/ 3432024 w 3460215"/>
              <a:gd name="connsiteY10" fmla="*/ 36000 h 36000"/>
              <a:gd name="connsiteX11" fmla="*/ 3428035 w 3460215"/>
              <a:gd name="connsiteY11" fmla="*/ 36000 h 36000"/>
              <a:gd name="connsiteX12" fmla="*/ 3096000 w 3460215"/>
              <a:gd name="connsiteY12" fmla="*/ 36000 h 36000"/>
              <a:gd name="connsiteX13" fmla="*/ 3060782 w 3460215"/>
              <a:gd name="connsiteY13" fmla="*/ 36000 h 36000"/>
              <a:gd name="connsiteX14" fmla="*/ 0 w 3460215"/>
              <a:gd name="connsiteY14" fmla="*/ 36000 h 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60215" h="36000">
                <a:moveTo>
                  <a:pt x="3435364" y="0"/>
                </a:moveTo>
                <a:lnTo>
                  <a:pt x="3460215" y="0"/>
                </a:lnTo>
                <a:lnTo>
                  <a:pt x="3435364" y="36000"/>
                </a:lnTo>
                <a:close/>
                <a:moveTo>
                  <a:pt x="0" y="0"/>
                </a:moveTo>
                <a:lnTo>
                  <a:pt x="3060782" y="0"/>
                </a:lnTo>
                <a:lnTo>
                  <a:pt x="3096000" y="0"/>
                </a:lnTo>
                <a:lnTo>
                  <a:pt x="3428035" y="0"/>
                </a:lnTo>
                <a:lnTo>
                  <a:pt x="3432024" y="0"/>
                </a:lnTo>
                <a:lnTo>
                  <a:pt x="3435363" y="0"/>
                </a:lnTo>
                <a:lnTo>
                  <a:pt x="3435363" y="36000"/>
                </a:lnTo>
                <a:lnTo>
                  <a:pt x="3432024" y="36000"/>
                </a:lnTo>
                <a:lnTo>
                  <a:pt x="3428035" y="36000"/>
                </a:lnTo>
                <a:lnTo>
                  <a:pt x="3096000" y="36000"/>
                </a:lnTo>
                <a:lnTo>
                  <a:pt x="3060782" y="36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954EA4C-B9EF-E758-9B0D-B50B5C25354B}"/>
              </a:ext>
            </a:extLst>
          </p:cNvPr>
          <p:cNvSpPr/>
          <p:nvPr userDrawn="1"/>
        </p:nvSpPr>
        <p:spPr>
          <a:xfrm>
            <a:off x="0" y="6194500"/>
            <a:ext cx="1015423" cy="432003"/>
          </a:xfrm>
          <a:custGeom>
            <a:avLst/>
            <a:gdLst>
              <a:gd name="connsiteX0" fmla="*/ 677507 w 1015423"/>
              <a:gd name="connsiteY0" fmla="*/ 2 h 432003"/>
              <a:gd name="connsiteX1" fmla="*/ 1015423 w 1015423"/>
              <a:gd name="connsiteY1" fmla="*/ 2 h 432003"/>
              <a:gd name="connsiteX2" fmla="*/ 677507 w 1015423"/>
              <a:gd name="connsiteY2" fmla="*/ 432002 h 432003"/>
              <a:gd name="connsiteX3" fmla="*/ 0 w 1015423"/>
              <a:gd name="connsiteY3" fmla="*/ 0 h 432003"/>
              <a:gd name="connsiteX4" fmla="*/ 345440 w 1015423"/>
              <a:gd name="connsiteY4" fmla="*/ 0 h 432003"/>
              <a:gd name="connsiteX5" fmla="*/ 345440 w 1015423"/>
              <a:gd name="connsiteY5" fmla="*/ 4 h 432003"/>
              <a:gd name="connsiteX6" fmla="*/ 577850 w 1015423"/>
              <a:gd name="connsiteY6" fmla="*/ 4 h 432003"/>
              <a:gd name="connsiteX7" fmla="*/ 577850 w 1015423"/>
              <a:gd name="connsiteY7" fmla="*/ 2 h 432003"/>
              <a:gd name="connsiteX8" fmla="*/ 677495 w 1015423"/>
              <a:gd name="connsiteY8" fmla="*/ 2 h 432003"/>
              <a:gd name="connsiteX9" fmla="*/ 677495 w 1015423"/>
              <a:gd name="connsiteY9" fmla="*/ 432002 h 432003"/>
              <a:gd name="connsiteX10" fmla="*/ 604520 w 1015423"/>
              <a:gd name="connsiteY10" fmla="*/ 432002 h 432003"/>
              <a:gd name="connsiteX11" fmla="*/ 604520 w 1015423"/>
              <a:gd name="connsiteY11" fmla="*/ 432003 h 432003"/>
              <a:gd name="connsiteX12" fmla="*/ 345440 w 1015423"/>
              <a:gd name="connsiteY12" fmla="*/ 432003 h 432003"/>
              <a:gd name="connsiteX13" fmla="*/ 345440 w 1015423"/>
              <a:gd name="connsiteY13" fmla="*/ 432001 h 432003"/>
              <a:gd name="connsiteX14" fmla="*/ 0 w 1015423"/>
              <a:gd name="connsiteY14" fmla="*/ 432001 h 43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15423" h="432003">
                <a:moveTo>
                  <a:pt x="677507" y="2"/>
                </a:moveTo>
                <a:lnTo>
                  <a:pt x="1015423" y="2"/>
                </a:lnTo>
                <a:lnTo>
                  <a:pt x="677507" y="432002"/>
                </a:lnTo>
                <a:close/>
                <a:moveTo>
                  <a:pt x="0" y="0"/>
                </a:moveTo>
                <a:lnTo>
                  <a:pt x="345440" y="0"/>
                </a:lnTo>
                <a:lnTo>
                  <a:pt x="345440" y="4"/>
                </a:lnTo>
                <a:lnTo>
                  <a:pt x="577850" y="4"/>
                </a:lnTo>
                <a:lnTo>
                  <a:pt x="577850" y="2"/>
                </a:lnTo>
                <a:lnTo>
                  <a:pt x="677495" y="2"/>
                </a:lnTo>
                <a:lnTo>
                  <a:pt x="677495" y="432002"/>
                </a:lnTo>
                <a:lnTo>
                  <a:pt x="604520" y="432002"/>
                </a:lnTo>
                <a:lnTo>
                  <a:pt x="604520" y="432003"/>
                </a:lnTo>
                <a:lnTo>
                  <a:pt x="345440" y="432003"/>
                </a:lnTo>
                <a:lnTo>
                  <a:pt x="345440" y="432001"/>
                </a:lnTo>
                <a:lnTo>
                  <a:pt x="0" y="432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53EBD5A-9EE3-9127-9EDE-700CDD47EB89}"/>
              </a:ext>
            </a:extLst>
          </p:cNvPr>
          <p:cNvSpPr/>
          <p:nvPr userDrawn="1"/>
        </p:nvSpPr>
        <p:spPr>
          <a:xfrm flipV="1">
            <a:off x="745967" y="6194500"/>
            <a:ext cx="1641172" cy="432002"/>
          </a:xfrm>
          <a:custGeom>
            <a:avLst/>
            <a:gdLst>
              <a:gd name="connsiteX0" fmla="*/ 1303256 w 1641172"/>
              <a:gd name="connsiteY0" fmla="*/ 432002 h 432002"/>
              <a:gd name="connsiteX1" fmla="*/ 1641172 w 1641172"/>
              <a:gd name="connsiteY1" fmla="*/ 432002 h 432002"/>
              <a:gd name="connsiteX2" fmla="*/ 1303256 w 1641172"/>
              <a:gd name="connsiteY2" fmla="*/ 2 h 432002"/>
              <a:gd name="connsiteX3" fmla="*/ 337928 w 1641172"/>
              <a:gd name="connsiteY3" fmla="*/ 432002 h 432002"/>
              <a:gd name="connsiteX4" fmla="*/ 437573 w 1641172"/>
              <a:gd name="connsiteY4" fmla="*/ 432002 h 432002"/>
              <a:gd name="connsiteX5" fmla="*/ 437573 w 1641172"/>
              <a:gd name="connsiteY5" fmla="*/ 431999 h 432002"/>
              <a:gd name="connsiteX6" fmla="*/ 669983 w 1641172"/>
              <a:gd name="connsiteY6" fmla="*/ 431999 h 432002"/>
              <a:gd name="connsiteX7" fmla="*/ 669983 w 1641172"/>
              <a:gd name="connsiteY7" fmla="*/ 432002 h 432002"/>
              <a:gd name="connsiteX8" fmla="*/ 769628 w 1641172"/>
              <a:gd name="connsiteY8" fmla="*/ 432002 h 432002"/>
              <a:gd name="connsiteX9" fmla="*/ 769628 w 1641172"/>
              <a:gd name="connsiteY9" fmla="*/ 301726 h 432002"/>
              <a:gd name="connsiteX10" fmla="*/ 769640 w 1641172"/>
              <a:gd name="connsiteY10" fmla="*/ 301741 h 432002"/>
              <a:gd name="connsiteX11" fmla="*/ 769640 w 1641172"/>
              <a:gd name="connsiteY11" fmla="*/ 432002 h 432002"/>
              <a:gd name="connsiteX12" fmla="*/ 871532 w 1641172"/>
              <a:gd name="connsiteY12" fmla="*/ 432002 h 432002"/>
              <a:gd name="connsiteX13" fmla="*/ 871544 w 1641172"/>
              <a:gd name="connsiteY13" fmla="*/ 432002 h 432002"/>
              <a:gd name="connsiteX14" fmla="*/ 971189 w 1641172"/>
              <a:gd name="connsiteY14" fmla="*/ 432002 h 432002"/>
              <a:gd name="connsiteX15" fmla="*/ 1107556 w 1641172"/>
              <a:gd name="connsiteY15" fmla="*/ 432002 h 432002"/>
              <a:gd name="connsiteX16" fmla="*/ 1107554 w 1641172"/>
              <a:gd name="connsiteY16" fmla="*/ 431999 h 432002"/>
              <a:gd name="connsiteX17" fmla="*/ 1203599 w 1641172"/>
              <a:gd name="connsiteY17" fmla="*/ 431999 h 432002"/>
              <a:gd name="connsiteX18" fmla="*/ 1203599 w 1641172"/>
              <a:gd name="connsiteY18" fmla="*/ 432002 h 432002"/>
              <a:gd name="connsiteX19" fmla="*/ 1303244 w 1641172"/>
              <a:gd name="connsiteY19" fmla="*/ 432002 h 432002"/>
              <a:gd name="connsiteX20" fmla="*/ 1303244 w 1641172"/>
              <a:gd name="connsiteY20" fmla="*/ 2 h 432002"/>
              <a:gd name="connsiteX21" fmla="*/ 1243704 w 1641172"/>
              <a:gd name="connsiteY21" fmla="*/ 2 h 432002"/>
              <a:gd name="connsiteX22" fmla="*/ 1243704 w 1641172"/>
              <a:gd name="connsiteY22" fmla="*/ 0 h 432002"/>
              <a:gd name="connsiteX23" fmla="*/ 950334 w 1641172"/>
              <a:gd name="connsiteY23" fmla="*/ 0 h 432002"/>
              <a:gd name="connsiteX24" fmla="*/ 950334 w 1641172"/>
              <a:gd name="connsiteY24" fmla="*/ 2 h 432002"/>
              <a:gd name="connsiteX25" fmla="*/ 871544 w 1641172"/>
              <a:gd name="connsiteY25" fmla="*/ 2 h 432002"/>
              <a:gd name="connsiteX26" fmla="*/ 871544 w 1641172"/>
              <a:gd name="connsiteY26" fmla="*/ 130279 h 432002"/>
              <a:gd name="connsiteX27" fmla="*/ 871532 w 1641172"/>
              <a:gd name="connsiteY27" fmla="*/ 130263 h 432002"/>
              <a:gd name="connsiteX28" fmla="*/ 871532 w 1641172"/>
              <a:gd name="connsiteY28" fmla="*/ 2 h 432002"/>
              <a:gd name="connsiteX29" fmla="*/ 769640 w 1641172"/>
              <a:gd name="connsiteY29" fmla="*/ 2 h 432002"/>
              <a:gd name="connsiteX30" fmla="*/ 769628 w 1641172"/>
              <a:gd name="connsiteY30" fmla="*/ 2 h 432002"/>
              <a:gd name="connsiteX31" fmla="*/ 710088 w 1641172"/>
              <a:gd name="connsiteY31" fmla="*/ 2 h 432002"/>
              <a:gd name="connsiteX32" fmla="*/ 710088 w 1641172"/>
              <a:gd name="connsiteY32" fmla="*/ 0 h 432002"/>
              <a:gd name="connsiteX33" fmla="*/ 416718 w 1641172"/>
              <a:gd name="connsiteY33" fmla="*/ 0 h 432002"/>
              <a:gd name="connsiteX34" fmla="*/ 416718 w 1641172"/>
              <a:gd name="connsiteY34" fmla="*/ 2 h 432002"/>
              <a:gd name="connsiteX35" fmla="*/ 337928 w 1641172"/>
              <a:gd name="connsiteY35" fmla="*/ 2 h 432002"/>
              <a:gd name="connsiteX36" fmla="*/ 337916 w 1641172"/>
              <a:gd name="connsiteY36" fmla="*/ 432002 h 432002"/>
              <a:gd name="connsiteX37" fmla="*/ 337916 w 1641172"/>
              <a:gd name="connsiteY37" fmla="*/ 2 h 432002"/>
              <a:gd name="connsiteX38" fmla="*/ 0 w 1641172"/>
              <a:gd name="connsiteY38" fmla="*/ 2 h 43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641172" h="432002">
                <a:moveTo>
                  <a:pt x="1303256" y="432002"/>
                </a:moveTo>
                <a:lnTo>
                  <a:pt x="1641172" y="432002"/>
                </a:lnTo>
                <a:lnTo>
                  <a:pt x="1303256" y="2"/>
                </a:lnTo>
                <a:close/>
                <a:moveTo>
                  <a:pt x="337928" y="432002"/>
                </a:moveTo>
                <a:lnTo>
                  <a:pt x="437573" y="432002"/>
                </a:lnTo>
                <a:lnTo>
                  <a:pt x="437573" y="431999"/>
                </a:lnTo>
                <a:lnTo>
                  <a:pt x="669983" y="431999"/>
                </a:lnTo>
                <a:lnTo>
                  <a:pt x="669983" y="432002"/>
                </a:lnTo>
                <a:lnTo>
                  <a:pt x="769628" y="432002"/>
                </a:lnTo>
                <a:lnTo>
                  <a:pt x="769628" y="301726"/>
                </a:lnTo>
                <a:lnTo>
                  <a:pt x="769640" y="301741"/>
                </a:lnTo>
                <a:lnTo>
                  <a:pt x="769640" y="432002"/>
                </a:lnTo>
                <a:lnTo>
                  <a:pt x="871532" y="432002"/>
                </a:lnTo>
                <a:lnTo>
                  <a:pt x="871544" y="432002"/>
                </a:lnTo>
                <a:lnTo>
                  <a:pt x="971189" y="432002"/>
                </a:lnTo>
                <a:lnTo>
                  <a:pt x="1107556" y="432002"/>
                </a:lnTo>
                <a:lnTo>
                  <a:pt x="1107554" y="431999"/>
                </a:lnTo>
                <a:lnTo>
                  <a:pt x="1203599" y="431999"/>
                </a:lnTo>
                <a:lnTo>
                  <a:pt x="1203599" y="432002"/>
                </a:lnTo>
                <a:lnTo>
                  <a:pt x="1303244" y="432002"/>
                </a:lnTo>
                <a:lnTo>
                  <a:pt x="1303244" y="2"/>
                </a:lnTo>
                <a:lnTo>
                  <a:pt x="1243704" y="2"/>
                </a:lnTo>
                <a:lnTo>
                  <a:pt x="1243704" y="0"/>
                </a:lnTo>
                <a:lnTo>
                  <a:pt x="950334" y="0"/>
                </a:lnTo>
                <a:lnTo>
                  <a:pt x="950334" y="2"/>
                </a:lnTo>
                <a:lnTo>
                  <a:pt x="871544" y="2"/>
                </a:lnTo>
                <a:lnTo>
                  <a:pt x="871544" y="130279"/>
                </a:lnTo>
                <a:lnTo>
                  <a:pt x="871532" y="130263"/>
                </a:lnTo>
                <a:lnTo>
                  <a:pt x="871532" y="2"/>
                </a:lnTo>
                <a:lnTo>
                  <a:pt x="769640" y="2"/>
                </a:lnTo>
                <a:lnTo>
                  <a:pt x="769628" y="2"/>
                </a:lnTo>
                <a:lnTo>
                  <a:pt x="710088" y="2"/>
                </a:lnTo>
                <a:lnTo>
                  <a:pt x="710088" y="0"/>
                </a:lnTo>
                <a:lnTo>
                  <a:pt x="416718" y="0"/>
                </a:lnTo>
                <a:lnTo>
                  <a:pt x="416718" y="2"/>
                </a:lnTo>
                <a:lnTo>
                  <a:pt x="337928" y="2"/>
                </a:lnTo>
                <a:close/>
                <a:moveTo>
                  <a:pt x="337916" y="432002"/>
                </a:moveTo>
                <a:lnTo>
                  <a:pt x="337916" y="2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E5D2646-5C90-226F-F9D3-865075DA8890}"/>
              </a:ext>
            </a:extLst>
          </p:cNvPr>
          <p:cNvSpPr/>
          <p:nvPr userDrawn="1"/>
        </p:nvSpPr>
        <p:spPr>
          <a:xfrm flipH="1" flipV="1">
            <a:off x="8731785" y="6278956"/>
            <a:ext cx="3460215" cy="36000"/>
          </a:xfrm>
          <a:custGeom>
            <a:avLst/>
            <a:gdLst>
              <a:gd name="connsiteX0" fmla="*/ 3435364 w 3460215"/>
              <a:gd name="connsiteY0" fmla="*/ 0 h 36000"/>
              <a:gd name="connsiteX1" fmla="*/ 3460215 w 3460215"/>
              <a:gd name="connsiteY1" fmla="*/ 0 h 36000"/>
              <a:gd name="connsiteX2" fmla="*/ 3435364 w 3460215"/>
              <a:gd name="connsiteY2" fmla="*/ 36000 h 36000"/>
              <a:gd name="connsiteX3" fmla="*/ 0 w 3460215"/>
              <a:gd name="connsiteY3" fmla="*/ 0 h 36000"/>
              <a:gd name="connsiteX4" fmla="*/ 3060782 w 3460215"/>
              <a:gd name="connsiteY4" fmla="*/ 0 h 36000"/>
              <a:gd name="connsiteX5" fmla="*/ 3096000 w 3460215"/>
              <a:gd name="connsiteY5" fmla="*/ 0 h 36000"/>
              <a:gd name="connsiteX6" fmla="*/ 3428035 w 3460215"/>
              <a:gd name="connsiteY6" fmla="*/ 0 h 36000"/>
              <a:gd name="connsiteX7" fmla="*/ 3432024 w 3460215"/>
              <a:gd name="connsiteY7" fmla="*/ 0 h 36000"/>
              <a:gd name="connsiteX8" fmla="*/ 3435363 w 3460215"/>
              <a:gd name="connsiteY8" fmla="*/ 0 h 36000"/>
              <a:gd name="connsiteX9" fmla="*/ 3435363 w 3460215"/>
              <a:gd name="connsiteY9" fmla="*/ 36000 h 36000"/>
              <a:gd name="connsiteX10" fmla="*/ 3432024 w 3460215"/>
              <a:gd name="connsiteY10" fmla="*/ 36000 h 36000"/>
              <a:gd name="connsiteX11" fmla="*/ 3428035 w 3460215"/>
              <a:gd name="connsiteY11" fmla="*/ 36000 h 36000"/>
              <a:gd name="connsiteX12" fmla="*/ 3096000 w 3460215"/>
              <a:gd name="connsiteY12" fmla="*/ 36000 h 36000"/>
              <a:gd name="connsiteX13" fmla="*/ 3060782 w 3460215"/>
              <a:gd name="connsiteY13" fmla="*/ 36000 h 36000"/>
              <a:gd name="connsiteX14" fmla="*/ 0 w 3460215"/>
              <a:gd name="connsiteY14" fmla="*/ 36000 h 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60215" h="36000">
                <a:moveTo>
                  <a:pt x="3435364" y="0"/>
                </a:moveTo>
                <a:lnTo>
                  <a:pt x="3460215" y="0"/>
                </a:lnTo>
                <a:lnTo>
                  <a:pt x="3435364" y="36000"/>
                </a:lnTo>
                <a:close/>
                <a:moveTo>
                  <a:pt x="0" y="0"/>
                </a:moveTo>
                <a:lnTo>
                  <a:pt x="3060782" y="0"/>
                </a:lnTo>
                <a:lnTo>
                  <a:pt x="3096000" y="0"/>
                </a:lnTo>
                <a:lnTo>
                  <a:pt x="3428035" y="0"/>
                </a:lnTo>
                <a:lnTo>
                  <a:pt x="3432024" y="0"/>
                </a:lnTo>
                <a:lnTo>
                  <a:pt x="3435363" y="0"/>
                </a:lnTo>
                <a:lnTo>
                  <a:pt x="3435363" y="36000"/>
                </a:lnTo>
                <a:lnTo>
                  <a:pt x="3432024" y="36000"/>
                </a:lnTo>
                <a:lnTo>
                  <a:pt x="3428035" y="36000"/>
                </a:lnTo>
                <a:lnTo>
                  <a:pt x="3096000" y="36000"/>
                </a:lnTo>
                <a:lnTo>
                  <a:pt x="3060782" y="36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A6E7F09-3378-C18E-3EF5-B27AC3B4FC1A}"/>
              </a:ext>
            </a:extLst>
          </p:cNvPr>
          <p:cNvSpPr/>
          <p:nvPr userDrawn="1"/>
        </p:nvSpPr>
        <p:spPr>
          <a:xfrm>
            <a:off x="0" y="6407297"/>
            <a:ext cx="12192000" cy="450702"/>
          </a:xfrm>
          <a:custGeom>
            <a:avLst/>
            <a:gdLst>
              <a:gd name="connsiteX0" fmla="*/ 0 w 12192000"/>
              <a:gd name="connsiteY0" fmla="*/ 270702 h 450702"/>
              <a:gd name="connsiteX1" fmla="*/ 12192000 w 12192000"/>
              <a:gd name="connsiteY1" fmla="*/ 270702 h 450702"/>
              <a:gd name="connsiteX2" fmla="*/ 12192000 w 12192000"/>
              <a:gd name="connsiteY2" fmla="*/ 450702 h 450702"/>
              <a:gd name="connsiteX3" fmla="*/ 0 w 12192000"/>
              <a:gd name="connsiteY3" fmla="*/ 450702 h 450702"/>
              <a:gd name="connsiteX4" fmla="*/ 2296732 w 12192000"/>
              <a:gd name="connsiteY4" fmla="*/ 1 h 450702"/>
              <a:gd name="connsiteX5" fmla="*/ 2296732 w 12192000"/>
              <a:gd name="connsiteY5" fmla="*/ 270700 h 450702"/>
              <a:gd name="connsiteX6" fmla="*/ 2084988 w 12192000"/>
              <a:gd name="connsiteY6" fmla="*/ 270700 h 450702"/>
              <a:gd name="connsiteX7" fmla="*/ 5455920 w 12192000"/>
              <a:gd name="connsiteY7" fmla="*/ 0 h 450702"/>
              <a:gd name="connsiteX8" fmla="*/ 12192000 w 12192000"/>
              <a:gd name="connsiteY8" fmla="*/ 0 h 450702"/>
              <a:gd name="connsiteX9" fmla="*/ 12192000 w 12192000"/>
              <a:gd name="connsiteY9" fmla="*/ 270699 h 450702"/>
              <a:gd name="connsiteX10" fmla="*/ 5488342 w 12192000"/>
              <a:gd name="connsiteY10" fmla="*/ 270699 h 450702"/>
              <a:gd name="connsiteX11" fmla="*/ 5488342 w 12192000"/>
              <a:gd name="connsiteY11" fmla="*/ 270700 h 450702"/>
              <a:gd name="connsiteX12" fmla="*/ 2359178 w 12192000"/>
              <a:gd name="connsiteY12" fmla="*/ 270700 h 450702"/>
              <a:gd name="connsiteX13" fmla="*/ 2325192 w 12192000"/>
              <a:gd name="connsiteY13" fmla="*/ 270700 h 450702"/>
              <a:gd name="connsiteX14" fmla="*/ 2296739 w 12192000"/>
              <a:gd name="connsiteY14" fmla="*/ 270700 h 450702"/>
              <a:gd name="connsiteX15" fmla="*/ 2296739 w 12192000"/>
              <a:gd name="connsiteY15" fmla="*/ 1 h 450702"/>
              <a:gd name="connsiteX16" fmla="*/ 2325192 w 12192000"/>
              <a:gd name="connsiteY16" fmla="*/ 1 h 450702"/>
              <a:gd name="connsiteX17" fmla="*/ 2359178 w 12192000"/>
              <a:gd name="connsiteY17" fmla="*/ 1 h 450702"/>
              <a:gd name="connsiteX18" fmla="*/ 5455920 w 12192000"/>
              <a:gd name="connsiteY18" fmla="*/ 1 h 450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450702">
                <a:moveTo>
                  <a:pt x="0" y="270702"/>
                </a:moveTo>
                <a:lnTo>
                  <a:pt x="12192000" y="270702"/>
                </a:lnTo>
                <a:lnTo>
                  <a:pt x="12192000" y="450702"/>
                </a:lnTo>
                <a:lnTo>
                  <a:pt x="0" y="450702"/>
                </a:lnTo>
                <a:close/>
                <a:moveTo>
                  <a:pt x="2296732" y="1"/>
                </a:moveTo>
                <a:lnTo>
                  <a:pt x="2296732" y="270700"/>
                </a:lnTo>
                <a:lnTo>
                  <a:pt x="2084988" y="270700"/>
                </a:lnTo>
                <a:close/>
                <a:moveTo>
                  <a:pt x="5455920" y="0"/>
                </a:moveTo>
                <a:lnTo>
                  <a:pt x="12192000" y="0"/>
                </a:lnTo>
                <a:lnTo>
                  <a:pt x="12192000" y="270699"/>
                </a:lnTo>
                <a:lnTo>
                  <a:pt x="5488342" y="270699"/>
                </a:lnTo>
                <a:lnTo>
                  <a:pt x="5488342" y="270700"/>
                </a:lnTo>
                <a:lnTo>
                  <a:pt x="2359178" y="270700"/>
                </a:lnTo>
                <a:lnTo>
                  <a:pt x="2325192" y="270700"/>
                </a:lnTo>
                <a:lnTo>
                  <a:pt x="2296739" y="270700"/>
                </a:lnTo>
                <a:lnTo>
                  <a:pt x="2296739" y="1"/>
                </a:lnTo>
                <a:lnTo>
                  <a:pt x="2325192" y="1"/>
                </a:lnTo>
                <a:lnTo>
                  <a:pt x="2359178" y="1"/>
                </a:lnTo>
                <a:lnTo>
                  <a:pt x="5455920" y="1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r"/>
            <a:r>
              <a:rPr lang="en-IN" sz="1400" dirty="0">
                <a:solidFill>
                  <a:schemeClr val="bg1">
                    <a:lumMod val="85000"/>
                  </a:schemeClr>
                </a:solidFill>
              </a:rPr>
              <a:t>© www.veetechnologies.com</a:t>
            </a:r>
          </a:p>
        </p:txBody>
      </p:sp>
    </p:spTree>
    <p:extLst>
      <p:ext uri="{BB962C8B-B14F-4D97-AF65-F5344CB8AC3E}">
        <p14:creationId xmlns:p14="http://schemas.microsoft.com/office/powerpoint/2010/main" val="355536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43C8D-E933-331F-6B5B-3F485116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79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AD02-DB2C-08BF-69FA-ED02E717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Relevance</a:t>
            </a:r>
          </a:p>
        </p:txBody>
      </p:sp>
      <p:sp>
        <p:nvSpPr>
          <p:cNvPr id="101" name="Tick"/>
          <p:cNvSpPr/>
          <p:nvPr/>
        </p:nvSpPr>
        <p:spPr>
          <a:xfrm>
            <a:off x="838200" y="1547920"/>
            <a:ext cx="60000" cy="26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2" name="TextBox"/>
          <p:cNvSpPr txBox="1"/>
          <p:nvPr/>
        </p:nvSpPr>
        <p:spPr>
          <a:xfrm>
            <a:off x="978200" y="1547920"/>
            <a:ext cx="481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97132"/>
                </a:solidFill>
              </a:rPr>
              <a:t>PROBLEM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838200" y="1887920"/>
            <a:ext cx="4950000" cy="11822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3B3B3B"/>
                </a:solidFill>
              </a:rPr>
              <a:t>B2B sales and marketing teams spend hours per account manually researching companies, building ICPs, and figuring out who to contact before a single email is even sent.</a:t>
            </a:r>
          </a:p>
        </p:txBody>
      </p:sp>
      <p:sp>
        <p:nvSpPr>
          <p:cNvPr id="104" name="Tick"/>
          <p:cNvSpPr/>
          <p:nvPr/>
        </p:nvSpPr>
        <p:spPr>
          <a:xfrm>
            <a:off x="838200" y="2810133"/>
            <a:ext cx="60000" cy="26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5" name="TextBox"/>
          <p:cNvSpPr txBox="1"/>
          <p:nvPr/>
        </p:nvSpPr>
        <p:spPr>
          <a:xfrm>
            <a:off x="978200" y="2810133"/>
            <a:ext cx="481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97132"/>
                </a:solidFill>
              </a:rPr>
              <a:t>TARGET USERS / PROCESS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838200" y="3150133"/>
            <a:ext cx="4950000" cy="11822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3B3B3B"/>
                </a:solidFill>
              </a:rPr>
              <a:t>Founders, AEs/SDRs, RevOps and GTM leaders, and channel/partnership teams running outbound pipeline generation today done by hand via LinkedIn, company sites, and spreadsheets.</a:t>
            </a:r>
          </a:p>
        </p:txBody>
      </p:sp>
      <p:sp>
        <p:nvSpPr>
          <p:cNvPr id="107" name="Tick"/>
          <p:cNvSpPr/>
          <p:nvPr/>
        </p:nvSpPr>
        <p:spPr>
          <a:xfrm>
            <a:off x="838200" y="4127015"/>
            <a:ext cx="60000" cy="26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8" name="TextBox"/>
          <p:cNvSpPr txBox="1"/>
          <p:nvPr/>
        </p:nvSpPr>
        <p:spPr>
          <a:xfrm>
            <a:off x="978200" y="4127015"/>
            <a:ext cx="481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97132"/>
                </a:solidFill>
              </a:rPr>
              <a:t>WHY IT MATTERS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838200" y="4467015"/>
            <a:ext cx="4950000" cy="6789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3B3B3B"/>
                </a:solidFill>
              </a:rPr>
              <a:t>GTM research is the bottleneck before outreach starts. Skip it and you get "spray and pray" campaigns; do it properly and you burn analyst hours on every single account.</a:t>
            </a:r>
          </a:p>
        </p:txBody>
      </p:sp>
      <p:sp>
        <p:nvSpPr>
          <p:cNvPr id="110" name="PainCard"/>
          <p:cNvSpPr/>
          <p:nvPr/>
        </p:nvSpPr>
        <p:spPr>
          <a:xfrm>
            <a:off x="6223200" y="1354764"/>
            <a:ext cx="5265600" cy="4084529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1" name="TextBox"/>
          <p:cNvSpPr txBox="1"/>
          <p:nvPr/>
        </p:nvSpPr>
        <p:spPr>
          <a:xfrm>
            <a:off x="7467725" y="1502066"/>
            <a:ext cx="277655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000" b="1" cap="all" dirty="0">
                <a:solidFill>
                  <a:srgbClr val="E97132"/>
                </a:solidFill>
              </a:rPr>
              <a:t>Current</a:t>
            </a:r>
            <a:r>
              <a:rPr lang="en-US" sz="2400" b="1" cap="all" dirty="0">
                <a:solidFill>
                  <a:srgbClr val="0E2841"/>
                </a:solidFill>
              </a:rPr>
              <a:t> </a:t>
            </a:r>
            <a:r>
              <a:rPr lang="en-US" sz="2000" b="1" cap="all" dirty="0">
                <a:solidFill>
                  <a:srgbClr val="E97132"/>
                </a:solidFill>
              </a:rPr>
              <a:t>Pain</a:t>
            </a:r>
            <a:r>
              <a:rPr lang="en-US" sz="2400" b="1" cap="all" dirty="0">
                <a:solidFill>
                  <a:srgbClr val="0E2841"/>
                </a:solidFill>
              </a:rPr>
              <a:t> </a:t>
            </a:r>
            <a:r>
              <a:rPr lang="en-US" sz="2000" b="1" cap="all" dirty="0">
                <a:solidFill>
                  <a:srgbClr val="E97132"/>
                </a:solidFill>
              </a:rPr>
              <a:t>Points</a:t>
            </a:r>
          </a:p>
        </p:txBody>
      </p:sp>
      <p:sp>
        <p:nvSpPr>
          <p:cNvPr id="112" name="Dot"/>
          <p:cNvSpPr/>
          <p:nvPr/>
        </p:nvSpPr>
        <p:spPr>
          <a:xfrm>
            <a:off x="6411787" y="2150389"/>
            <a:ext cx="140000" cy="14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3" name="TextBox"/>
          <p:cNvSpPr txBox="1"/>
          <p:nvPr/>
        </p:nvSpPr>
        <p:spPr>
          <a:xfrm>
            <a:off x="6750700" y="2083560"/>
            <a:ext cx="4475600" cy="33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Manual research takes 2–4 hours per account</a:t>
            </a:r>
          </a:p>
        </p:txBody>
      </p:sp>
      <p:sp>
        <p:nvSpPr>
          <p:cNvPr id="114" name="Dot"/>
          <p:cNvSpPr/>
          <p:nvPr/>
        </p:nvSpPr>
        <p:spPr>
          <a:xfrm>
            <a:off x="6418200" y="2790801"/>
            <a:ext cx="140000" cy="14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5" name="TextBox"/>
          <p:cNvSpPr txBox="1"/>
          <p:nvPr/>
        </p:nvSpPr>
        <p:spPr>
          <a:xfrm>
            <a:off x="6750700" y="2675934"/>
            <a:ext cx="44756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No structured fit / timing / priority scoring</a:t>
            </a:r>
          </a:p>
        </p:txBody>
      </p:sp>
      <p:sp>
        <p:nvSpPr>
          <p:cNvPr id="116" name="Dot"/>
          <p:cNvSpPr/>
          <p:nvPr/>
        </p:nvSpPr>
        <p:spPr>
          <a:xfrm>
            <a:off x="6418200" y="3440801"/>
            <a:ext cx="140000" cy="14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7" name="TextBox"/>
          <p:cNvSpPr txBox="1"/>
          <p:nvPr/>
        </p:nvSpPr>
        <p:spPr>
          <a:xfrm>
            <a:off x="6750700" y="3325934"/>
            <a:ext cx="44756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No visibility into who to contact first inside an account</a:t>
            </a:r>
          </a:p>
        </p:txBody>
      </p:sp>
      <p:sp>
        <p:nvSpPr>
          <p:cNvPr id="118" name="Dot"/>
          <p:cNvSpPr/>
          <p:nvPr/>
        </p:nvSpPr>
        <p:spPr>
          <a:xfrm>
            <a:off x="6410137" y="4081128"/>
            <a:ext cx="140000" cy="14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9" name="TextBox"/>
          <p:cNvSpPr txBox="1"/>
          <p:nvPr/>
        </p:nvSpPr>
        <p:spPr>
          <a:xfrm>
            <a:off x="6750700" y="4030603"/>
            <a:ext cx="4475600" cy="3564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Generic outreach → low reply rates</a:t>
            </a:r>
          </a:p>
        </p:txBody>
      </p:sp>
      <p:sp>
        <p:nvSpPr>
          <p:cNvPr id="120" name="Dot"/>
          <p:cNvSpPr/>
          <p:nvPr/>
        </p:nvSpPr>
        <p:spPr>
          <a:xfrm>
            <a:off x="6418200" y="4721455"/>
            <a:ext cx="140000" cy="14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21" name="TextBox"/>
          <p:cNvSpPr txBox="1"/>
          <p:nvPr/>
        </p:nvSpPr>
        <p:spPr>
          <a:xfrm>
            <a:off x="6750700" y="4625934"/>
            <a:ext cx="44756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Channel-partner and warm-intro routes stay invisible</a:t>
            </a:r>
          </a:p>
        </p:txBody>
      </p:sp>
    </p:spTree>
    <p:extLst>
      <p:ext uri="{BB962C8B-B14F-4D97-AF65-F5344CB8AC3E}">
        <p14:creationId xmlns:p14="http://schemas.microsoft.com/office/powerpoint/2010/main" val="221375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C3DC9-1B3F-A274-7D93-D3445128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and Return On Investment (ROI)</a:t>
            </a:r>
          </a:p>
        </p:txBody>
      </p:sp>
      <p:sp>
        <p:nvSpPr>
          <p:cNvPr id="101" name="StatTile"/>
          <p:cNvSpPr/>
          <p:nvPr/>
        </p:nvSpPr>
        <p:spPr>
          <a:xfrm>
            <a:off x="838200" y="1309293"/>
            <a:ext cx="3338533" cy="14500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E97132"/>
                </a:solidFill>
              </a:rPr>
              <a:t>90%</a:t>
            </a:r>
            <a:r>
              <a:rPr lang="en-US" sz="3600" b="1" baseline="30000" dirty="0">
                <a:solidFill>
                  <a:srgbClr val="E97132"/>
                </a:solidFill>
              </a:rPr>
              <a:t>+</a:t>
            </a:r>
          </a:p>
          <a:p>
            <a:pPr algn="ctr">
              <a:buNone/>
            </a:pPr>
            <a:r>
              <a:rPr lang="en-US" sz="1150" dirty="0">
                <a:solidFill>
                  <a:schemeClr val="bg1"/>
                </a:solidFill>
              </a:rPr>
              <a:t>Cut in research time per account</a:t>
            </a:r>
          </a:p>
        </p:txBody>
      </p:sp>
      <p:sp>
        <p:nvSpPr>
          <p:cNvPr id="102" name="StatTile"/>
          <p:cNvSpPr/>
          <p:nvPr/>
        </p:nvSpPr>
        <p:spPr>
          <a:xfrm>
            <a:off x="4426733" y="1309293"/>
            <a:ext cx="3338533" cy="14500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E97132"/>
                </a:solidFill>
              </a:rPr>
              <a:t>100%</a:t>
            </a:r>
          </a:p>
          <a:p>
            <a:pPr algn="ctr">
              <a:buNone/>
            </a:pPr>
            <a:r>
              <a:rPr lang="en-US" sz="1150" dirty="0">
                <a:solidFill>
                  <a:schemeClr val="bg1"/>
                </a:solidFill>
              </a:rPr>
              <a:t>Discovered accounts scored &amp; prioritized</a:t>
            </a:r>
          </a:p>
        </p:txBody>
      </p:sp>
      <p:sp>
        <p:nvSpPr>
          <p:cNvPr id="103" name="StatTile"/>
          <p:cNvSpPr/>
          <p:nvPr/>
        </p:nvSpPr>
        <p:spPr>
          <a:xfrm>
            <a:off x="8015266" y="1309293"/>
            <a:ext cx="3338533" cy="14500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rgbClr val="E97132"/>
                </a:solidFill>
              </a:rPr>
              <a:t>100%</a:t>
            </a:r>
          </a:p>
          <a:p>
            <a:pPr algn="ctr">
              <a:buNone/>
            </a:pPr>
            <a:r>
              <a:rPr lang="en-US" sz="1150" dirty="0">
                <a:solidFill>
                  <a:schemeClr val="bg1"/>
                </a:solidFill>
              </a:rPr>
              <a:t>Demo/feature uptime, even during AI outages</a:t>
            </a:r>
          </a:p>
        </p:txBody>
      </p:sp>
      <p:sp>
        <p:nvSpPr>
          <p:cNvPr id="105" name="TextBox"/>
          <p:cNvSpPr txBox="1"/>
          <p:nvPr/>
        </p:nvSpPr>
        <p:spPr>
          <a:xfrm>
            <a:off x="998200" y="3293093"/>
            <a:ext cx="10225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B3B3B"/>
                </a:solidFill>
              </a:rPr>
              <a:t>Replaces hours of manual research with a ~1-minute pipeline, cutting reliance on analyst headcount and paid intent-data tools.</a:t>
            </a:r>
          </a:p>
        </p:txBody>
      </p:sp>
      <p:sp>
        <p:nvSpPr>
          <p:cNvPr id="107" name="TextBox"/>
          <p:cNvSpPr txBox="1"/>
          <p:nvPr/>
        </p:nvSpPr>
        <p:spPr>
          <a:xfrm>
            <a:off x="983199" y="4039210"/>
            <a:ext cx="10225600" cy="295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B3B3B"/>
                </a:solidFill>
              </a:rPr>
              <a:t>Persona-specific hooks, objection counter-narratives, and competitor displacement angles lift outreach relevance.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998200" y="4746846"/>
            <a:ext cx="10225600" cy="295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B3B3B"/>
                </a:solidFill>
              </a:rPr>
              <a:t>Fit / Timing / Priority scoring sorts accounts into Immediate, Standard, Nurture, or Do Not Pursue waves.</a:t>
            </a:r>
          </a:p>
        </p:txBody>
      </p:sp>
      <p:sp>
        <p:nvSpPr>
          <p:cNvPr id="111" name="TextBox"/>
          <p:cNvSpPr txBox="1"/>
          <p:nvPr/>
        </p:nvSpPr>
        <p:spPr>
          <a:xfrm>
            <a:off x="983199" y="5462273"/>
            <a:ext cx="10225600" cy="295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B3B3B"/>
                </a:solidFill>
              </a:rPr>
              <a:t>Cluster and Partner Pathway views surface channel and warm-intro routes manual research would miss.</a:t>
            </a:r>
          </a:p>
        </p:txBody>
      </p:sp>
      <p:sp>
        <p:nvSpPr>
          <p:cNvPr id="4" name="Tick">
            <a:extLst>
              <a:ext uri="{FF2B5EF4-FFF2-40B4-BE49-F238E27FC236}">
                <a16:creationId xmlns:a16="http://schemas.microsoft.com/office/drawing/2014/main" id="{014A879C-13F2-A642-D698-A608097AEA62}"/>
              </a:ext>
            </a:extLst>
          </p:cNvPr>
          <p:cNvSpPr/>
          <p:nvPr/>
        </p:nvSpPr>
        <p:spPr>
          <a:xfrm>
            <a:off x="858200" y="3030655"/>
            <a:ext cx="60000" cy="214876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8" name="TextBox">
            <a:extLst>
              <a:ext uri="{FF2B5EF4-FFF2-40B4-BE49-F238E27FC236}">
                <a16:creationId xmlns:a16="http://schemas.microsoft.com/office/drawing/2014/main" id="{39490C54-C6AC-CDBF-EEC9-0F0BFCC919CE}"/>
              </a:ext>
            </a:extLst>
          </p:cNvPr>
          <p:cNvSpPr txBox="1"/>
          <p:nvPr/>
        </p:nvSpPr>
        <p:spPr>
          <a:xfrm>
            <a:off x="998200" y="3048093"/>
            <a:ext cx="3469527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97132"/>
                </a:solidFill>
              </a:rPr>
              <a:t>TIME &amp; COSE SAVED:</a:t>
            </a:r>
          </a:p>
        </p:txBody>
      </p:sp>
      <p:sp>
        <p:nvSpPr>
          <p:cNvPr id="10" name="Tick">
            <a:extLst>
              <a:ext uri="{FF2B5EF4-FFF2-40B4-BE49-F238E27FC236}">
                <a16:creationId xmlns:a16="http://schemas.microsoft.com/office/drawing/2014/main" id="{58A65835-B5D1-F464-A13D-A8FCD7711D73}"/>
              </a:ext>
            </a:extLst>
          </p:cNvPr>
          <p:cNvSpPr/>
          <p:nvPr/>
        </p:nvSpPr>
        <p:spPr>
          <a:xfrm>
            <a:off x="838200" y="3772417"/>
            <a:ext cx="60000" cy="214876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2" name="TextBox">
            <a:extLst>
              <a:ext uri="{FF2B5EF4-FFF2-40B4-BE49-F238E27FC236}">
                <a16:creationId xmlns:a16="http://schemas.microsoft.com/office/drawing/2014/main" id="{5BDA7677-6689-85EB-2DB0-082301A9992C}"/>
              </a:ext>
            </a:extLst>
          </p:cNvPr>
          <p:cNvSpPr txBox="1"/>
          <p:nvPr/>
        </p:nvSpPr>
        <p:spPr>
          <a:xfrm>
            <a:off x="978200" y="3789855"/>
            <a:ext cx="3469527" cy="2374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97132"/>
                </a:solidFill>
              </a:rPr>
              <a:t>QUALITY &amp; PRODUCTIVITY:</a:t>
            </a:r>
          </a:p>
        </p:txBody>
      </p:sp>
      <p:sp>
        <p:nvSpPr>
          <p:cNvPr id="14" name="Tick">
            <a:extLst>
              <a:ext uri="{FF2B5EF4-FFF2-40B4-BE49-F238E27FC236}">
                <a16:creationId xmlns:a16="http://schemas.microsoft.com/office/drawing/2014/main" id="{8CC4EB68-D58F-ADCC-40EE-60A077F4A354}"/>
              </a:ext>
            </a:extLst>
          </p:cNvPr>
          <p:cNvSpPr/>
          <p:nvPr/>
        </p:nvSpPr>
        <p:spPr>
          <a:xfrm>
            <a:off x="838200" y="4496741"/>
            <a:ext cx="60000" cy="214876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6" name="TextBox">
            <a:extLst>
              <a:ext uri="{FF2B5EF4-FFF2-40B4-BE49-F238E27FC236}">
                <a16:creationId xmlns:a16="http://schemas.microsoft.com/office/drawing/2014/main" id="{318EB007-4305-5250-8E0B-1817C9CB4064}"/>
              </a:ext>
            </a:extLst>
          </p:cNvPr>
          <p:cNvSpPr txBox="1"/>
          <p:nvPr/>
        </p:nvSpPr>
        <p:spPr>
          <a:xfrm>
            <a:off x="978200" y="4514179"/>
            <a:ext cx="3469527" cy="2374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97132"/>
                </a:solidFill>
              </a:rPr>
              <a:t>SMART PRIORITIZATION:</a:t>
            </a:r>
          </a:p>
        </p:txBody>
      </p:sp>
      <p:sp>
        <p:nvSpPr>
          <p:cNvPr id="18" name="Tick">
            <a:extLst>
              <a:ext uri="{FF2B5EF4-FFF2-40B4-BE49-F238E27FC236}">
                <a16:creationId xmlns:a16="http://schemas.microsoft.com/office/drawing/2014/main" id="{C7AD3E70-FFFA-44E5-F27B-F8E928CCA2BC}"/>
              </a:ext>
            </a:extLst>
          </p:cNvPr>
          <p:cNvSpPr/>
          <p:nvPr/>
        </p:nvSpPr>
        <p:spPr>
          <a:xfrm>
            <a:off x="843199" y="5207343"/>
            <a:ext cx="60000" cy="214876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20" name="TextBox">
            <a:extLst>
              <a:ext uri="{FF2B5EF4-FFF2-40B4-BE49-F238E27FC236}">
                <a16:creationId xmlns:a16="http://schemas.microsoft.com/office/drawing/2014/main" id="{01A8E9BB-55D0-DE23-CF4A-BA9CA4BCAE3D}"/>
              </a:ext>
            </a:extLst>
          </p:cNvPr>
          <p:cNvSpPr txBox="1"/>
          <p:nvPr/>
        </p:nvSpPr>
        <p:spPr>
          <a:xfrm>
            <a:off x="983199" y="5224781"/>
            <a:ext cx="3469527" cy="2374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97132"/>
                </a:solidFill>
              </a:rPr>
              <a:t>EXPANDED COVERAGE:</a:t>
            </a:r>
          </a:p>
        </p:txBody>
      </p:sp>
    </p:spTree>
    <p:extLst>
      <p:ext uri="{BB962C8B-B14F-4D97-AF65-F5344CB8AC3E}">
        <p14:creationId xmlns:p14="http://schemas.microsoft.com/office/powerpoint/2010/main" val="92274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7B15-DE55-6314-52E8-CFC93CC9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Technical Approach</a:t>
            </a:r>
          </a:p>
        </p:txBody>
      </p:sp>
      <p:sp>
        <p:nvSpPr>
          <p:cNvPr id="101" name="Step1"/>
          <p:cNvSpPr/>
          <p:nvPr/>
        </p:nvSpPr>
        <p:spPr>
          <a:xfrm>
            <a:off x="838200" y="1385570"/>
            <a:ext cx="2433900" cy="130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endParaRPr lang="en-US" sz="1600" b="1" dirty="0">
              <a:solidFill>
                <a:srgbClr val="E97132"/>
              </a:solidFill>
            </a:endParaRPr>
          </a:p>
          <a:p>
            <a:pPr algn="ctr">
              <a:buNone/>
            </a:pPr>
            <a:endParaRPr lang="en-US" sz="1600" b="1" dirty="0">
              <a:solidFill>
                <a:srgbClr val="E97132"/>
              </a:solidFill>
            </a:endParaRPr>
          </a:p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Analyze Business</a:t>
            </a:r>
          </a:p>
        </p:txBody>
      </p:sp>
      <p:sp>
        <p:nvSpPr>
          <p:cNvPr id="102" name="Arrow"/>
          <p:cNvSpPr/>
          <p:nvPr/>
        </p:nvSpPr>
        <p:spPr>
          <a:xfrm>
            <a:off x="3272100" y="1945570"/>
            <a:ext cx="260000" cy="1800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3" name="Step2"/>
          <p:cNvSpPr/>
          <p:nvPr/>
        </p:nvSpPr>
        <p:spPr>
          <a:xfrm>
            <a:off x="3532100" y="1385570"/>
            <a:ext cx="2433900" cy="130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endParaRPr lang="en-US" sz="1600" b="1" dirty="0">
              <a:solidFill>
                <a:srgbClr val="E97132"/>
              </a:solidFill>
            </a:endParaRPr>
          </a:p>
          <a:p>
            <a:pPr algn="ctr">
              <a:buNone/>
            </a:pPr>
            <a:endParaRPr lang="en-US" sz="1600" b="1" dirty="0">
              <a:solidFill>
                <a:srgbClr val="E97132"/>
              </a:solidFill>
            </a:endParaRPr>
          </a:p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Discover Accounts</a:t>
            </a:r>
          </a:p>
        </p:txBody>
      </p:sp>
      <p:sp>
        <p:nvSpPr>
          <p:cNvPr id="104" name="Arrow"/>
          <p:cNvSpPr/>
          <p:nvPr/>
        </p:nvSpPr>
        <p:spPr>
          <a:xfrm>
            <a:off x="5966000" y="1945570"/>
            <a:ext cx="260000" cy="1800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5" name="Step3"/>
          <p:cNvSpPr/>
          <p:nvPr/>
        </p:nvSpPr>
        <p:spPr>
          <a:xfrm>
            <a:off x="6226000" y="1385570"/>
            <a:ext cx="2433900" cy="130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endParaRPr lang="en-US" sz="1300" b="1" dirty="0">
              <a:solidFill>
                <a:srgbClr val="E97132"/>
              </a:solidFill>
            </a:endParaRPr>
          </a:p>
          <a:p>
            <a:pPr algn="ctr">
              <a:buNone/>
            </a:pPr>
            <a:endParaRPr lang="en-US" sz="1300" b="1" dirty="0">
              <a:solidFill>
                <a:srgbClr val="E97132"/>
              </a:solidFill>
            </a:endParaRPr>
          </a:p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Analyze Account</a:t>
            </a:r>
          </a:p>
        </p:txBody>
      </p:sp>
      <p:sp>
        <p:nvSpPr>
          <p:cNvPr id="106" name="Arrow"/>
          <p:cNvSpPr/>
          <p:nvPr/>
        </p:nvSpPr>
        <p:spPr>
          <a:xfrm>
            <a:off x="8659900" y="1945570"/>
            <a:ext cx="260000" cy="1800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7" name="Step4"/>
          <p:cNvSpPr/>
          <p:nvPr/>
        </p:nvSpPr>
        <p:spPr>
          <a:xfrm>
            <a:off x="8919900" y="1385570"/>
            <a:ext cx="2433900" cy="130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endParaRPr lang="en-US" sz="1300" b="1" dirty="0">
              <a:solidFill>
                <a:srgbClr val="E97132"/>
              </a:solidFill>
            </a:endParaRPr>
          </a:p>
          <a:p>
            <a:pPr algn="ctr">
              <a:buNone/>
            </a:pPr>
            <a:endParaRPr lang="en-US" sz="1300" b="1" dirty="0">
              <a:solidFill>
                <a:srgbClr val="E97132"/>
              </a:solidFill>
            </a:endParaRPr>
          </a:p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Cluster Accounts</a:t>
            </a:r>
          </a:p>
        </p:txBody>
      </p:sp>
      <p:sp>
        <p:nvSpPr>
          <p:cNvPr id="108" name="TextBox"/>
          <p:cNvSpPr txBox="1"/>
          <p:nvPr/>
        </p:nvSpPr>
        <p:spPr>
          <a:xfrm>
            <a:off x="838200" y="2835570"/>
            <a:ext cx="105156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200" i="1" dirty="0">
                <a:solidFill>
                  <a:srgbClr val="6B6B6B"/>
                </a:solidFill>
              </a:rPr>
              <a:t>Input: a single company URL   →   Output: structured ICP, target accounts, personas &amp; citations</a:t>
            </a:r>
          </a:p>
        </p:txBody>
      </p:sp>
      <p:sp>
        <p:nvSpPr>
          <p:cNvPr id="109" name="Dot"/>
          <p:cNvSpPr/>
          <p:nvPr/>
        </p:nvSpPr>
        <p:spPr>
          <a:xfrm>
            <a:off x="838200" y="3345570"/>
            <a:ext cx="160000" cy="16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0" name="TextBox"/>
          <p:cNvSpPr txBox="1"/>
          <p:nvPr/>
        </p:nvSpPr>
        <p:spPr>
          <a:xfrm>
            <a:off x="1128200" y="3255570"/>
            <a:ext cx="10225600" cy="5655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2841"/>
                </a:solidFill>
              </a:rPr>
              <a:t>AI models:   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3B3B3B"/>
                </a:solidFill>
              </a:rPr>
              <a:t>OpenAI gpt-4o-mini as the primary model, with automatic fallback to gpt-4o; every response is structured JSON validated against a schema.</a:t>
            </a:r>
          </a:p>
        </p:txBody>
      </p:sp>
      <p:sp>
        <p:nvSpPr>
          <p:cNvPr id="111" name="Dot"/>
          <p:cNvSpPr/>
          <p:nvPr/>
        </p:nvSpPr>
        <p:spPr>
          <a:xfrm>
            <a:off x="838200" y="4173343"/>
            <a:ext cx="160000" cy="16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2" name="TextBox"/>
          <p:cNvSpPr txBox="1"/>
          <p:nvPr/>
        </p:nvSpPr>
        <p:spPr>
          <a:xfrm>
            <a:off x="1128200" y="4083342"/>
            <a:ext cx="10054150" cy="7363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2841"/>
                </a:solidFill>
              </a:rPr>
              <a:t>Reliability engineering:  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3B3B3B"/>
                </a:solidFill>
              </a:rPr>
              <a:t>Exponential-backoff retries (1s→2s→4s × 3), automatic model fallback, in-memory caching, and hand-authored fallback datasets so the product never errors out.</a:t>
            </a:r>
          </a:p>
        </p:txBody>
      </p:sp>
      <p:sp>
        <p:nvSpPr>
          <p:cNvPr id="113" name="Dot"/>
          <p:cNvSpPr/>
          <p:nvPr/>
        </p:nvSpPr>
        <p:spPr>
          <a:xfrm>
            <a:off x="838200" y="5091116"/>
            <a:ext cx="160000" cy="16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4" name="TextBox"/>
          <p:cNvSpPr txBox="1"/>
          <p:nvPr/>
        </p:nvSpPr>
        <p:spPr>
          <a:xfrm>
            <a:off x="1128200" y="5001116"/>
            <a:ext cx="10225600" cy="5096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2841"/>
                </a:solidFill>
              </a:rPr>
              <a:t>Prototype readiness:   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3B3B3B"/>
                </a:solidFill>
              </a:rPr>
              <a:t>Fully working end-to-end app today Express + Vite + React 19 + Tailwind v4 + shadcn/ui, single process on port 3000, live and demoable now.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A609B76-F8B4-BE60-F7BB-D7E35BC5794D}"/>
              </a:ext>
            </a:extLst>
          </p:cNvPr>
          <p:cNvSpPr/>
          <p:nvPr/>
        </p:nvSpPr>
        <p:spPr>
          <a:xfrm>
            <a:off x="1840837" y="1516945"/>
            <a:ext cx="428625" cy="42862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4C78AD-2ED2-ADB6-6C8E-6B35ECCEF113}"/>
              </a:ext>
            </a:extLst>
          </p:cNvPr>
          <p:cNvSpPr/>
          <p:nvPr/>
        </p:nvSpPr>
        <p:spPr>
          <a:xfrm>
            <a:off x="4534737" y="1585608"/>
            <a:ext cx="428625" cy="42862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AABC78-AB2C-4AE3-4B08-A1B7867C0708}"/>
              </a:ext>
            </a:extLst>
          </p:cNvPr>
          <p:cNvSpPr/>
          <p:nvPr/>
        </p:nvSpPr>
        <p:spPr>
          <a:xfrm>
            <a:off x="7228637" y="1576471"/>
            <a:ext cx="428625" cy="42862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639053-B06A-C37A-298F-2B1A806A615B}"/>
              </a:ext>
            </a:extLst>
          </p:cNvPr>
          <p:cNvSpPr/>
          <p:nvPr/>
        </p:nvSpPr>
        <p:spPr>
          <a:xfrm>
            <a:off x="9922537" y="1598206"/>
            <a:ext cx="428625" cy="428625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8356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AEDE-0DDB-649E-4097-7EFF0056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Adoption and Scalability</a:t>
            </a:r>
          </a:p>
        </p:txBody>
      </p:sp>
      <p:sp>
        <p:nvSpPr>
          <p:cNvPr id="101" name="TimelineLine"/>
          <p:cNvSpPr/>
          <p:nvPr/>
        </p:nvSpPr>
        <p:spPr>
          <a:xfrm>
            <a:off x="2590800" y="1451920"/>
            <a:ext cx="7010400" cy="12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2" name="StepCircle1"/>
          <p:cNvSpPr/>
          <p:nvPr/>
        </p:nvSpPr>
        <p:spPr>
          <a:xfrm>
            <a:off x="2270800" y="1137920"/>
            <a:ext cx="640000" cy="64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838200" y="1907920"/>
            <a:ext cx="35052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E2841"/>
                </a:solidFill>
              </a:rPr>
              <a:t>Adopt</a:t>
            </a:r>
          </a:p>
        </p:txBody>
      </p:sp>
      <p:sp>
        <p:nvSpPr>
          <p:cNvPr id="104" name="TextBox"/>
          <p:cNvSpPr txBox="1"/>
          <p:nvPr/>
        </p:nvSpPr>
        <p:spPr>
          <a:xfrm>
            <a:off x="928200" y="2287920"/>
            <a:ext cx="3325200" cy="550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dirty="0">
                <a:solidFill>
                  <a:srgbClr val="3B3B3B"/>
                </a:solidFill>
              </a:rPr>
              <a:t>Zero-install web app paste a company URL, get an ICP and ranked account list in one flow.</a:t>
            </a:r>
          </a:p>
        </p:txBody>
      </p:sp>
      <p:sp>
        <p:nvSpPr>
          <p:cNvPr id="105" name="StepCircle2"/>
          <p:cNvSpPr/>
          <p:nvPr/>
        </p:nvSpPr>
        <p:spPr>
          <a:xfrm>
            <a:off x="5776000" y="1137920"/>
            <a:ext cx="640000" cy="64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4343400" y="1907920"/>
            <a:ext cx="35052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E2841"/>
                </a:solidFill>
              </a:rPr>
              <a:t>Pilot</a:t>
            </a:r>
          </a:p>
        </p:txBody>
      </p:sp>
      <p:sp>
        <p:nvSpPr>
          <p:cNvPr id="107" name="TextBox"/>
          <p:cNvSpPr txBox="1"/>
          <p:nvPr/>
        </p:nvSpPr>
        <p:spPr>
          <a:xfrm>
            <a:off x="4433400" y="2287920"/>
            <a:ext cx="3325200" cy="550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dirty="0">
                <a:solidFill>
                  <a:srgbClr val="3B3B3B"/>
                </a:solidFill>
              </a:rPr>
              <a:t>Run against one GTM team or vertical; compare rep prep time and reply rates before vs. after.</a:t>
            </a:r>
          </a:p>
        </p:txBody>
      </p:sp>
      <p:sp>
        <p:nvSpPr>
          <p:cNvPr id="108" name="StepCircle3"/>
          <p:cNvSpPr/>
          <p:nvPr/>
        </p:nvSpPr>
        <p:spPr>
          <a:xfrm>
            <a:off x="9281200" y="1137920"/>
            <a:ext cx="640000" cy="64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7848600" y="1907920"/>
            <a:ext cx="35052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0E2841"/>
                </a:solidFill>
              </a:rPr>
              <a:t>Scale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7938600" y="2287920"/>
            <a:ext cx="3325200" cy="550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150" dirty="0">
                <a:solidFill>
                  <a:srgbClr val="3B3B3B"/>
                </a:solidFill>
              </a:rPr>
              <a:t>CRM write-back, multi-user report libraries, and enrichment-API integrations widen the funnel.</a:t>
            </a:r>
          </a:p>
        </p:txBody>
      </p:sp>
      <p:sp>
        <p:nvSpPr>
          <p:cNvPr id="111" name="TextBox"/>
          <p:cNvSpPr txBox="1"/>
          <p:nvPr/>
        </p:nvSpPr>
        <p:spPr>
          <a:xfrm>
            <a:off x="838200" y="3237920"/>
            <a:ext cx="10515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97132"/>
                </a:solidFill>
              </a:rPr>
              <a:t>SCALE-UP PATH</a:t>
            </a:r>
          </a:p>
        </p:txBody>
      </p:sp>
      <p:sp>
        <p:nvSpPr>
          <p:cNvPr id="112" name="ScaleCard0"/>
          <p:cNvSpPr/>
          <p:nvPr/>
        </p:nvSpPr>
        <p:spPr>
          <a:xfrm>
            <a:off x="838200" y="3577920"/>
            <a:ext cx="5157800" cy="111332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CRM write-back into </a:t>
            </a:r>
          </a:p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(HubSpot / Salesforce / Prospect Accel)</a:t>
            </a:r>
          </a:p>
        </p:txBody>
      </p:sp>
      <p:sp>
        <p:nvSpPr>
          <p:cNvPr id="113" name="ScaleCard1"/>
          <p:cNvSpPr/>
          <p:nvPr/>
        </p:nvSpPr>
        <p:spPr>
          <a:xfrm>
            <a:off x="6196000" y="3577920"/>
            <a:ext cx="5157800" cy="111332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Multi-user accounts + shared </a:t>
            </a:r>
          </a:p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report libraries</a:t>
            </a:r>
          </a:p>
        </p:txBody>
      </p:sp>
      <p:sp>
        <p:nvSpPr>
          <p:cNvPr id="114" name="ScaleCard2"/>
          <p:cNvSpPr/>
          <p:nvPr/>
        </p:nvSpPr>
        <p:spPr>
          <a:xfrm>
            <a:off x="838200" y="4891240"/>
            <a:ext cx="5157800" cy="111332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Enrichment APIs </a:t>
            </a:r>
          </a:p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(Clearbit / Apollo / ZoomInfo)</a:t>
            </a:r>
          </a:p>
        </p:txBody>
      </p:sp>
      <p:sp>
        <p:nvSpPr>
          <p:cNvPr id="115" name="ScaleCard3"/>
          <p:cNvSpPr/>
          <p:nvPr/>
        </p:nvSpPr>
        <p:spPr>
          <a:xfrm>
            <a:off x="6196000" y="4891240"/>
            <a:ext cx="5157800" cy="111332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Industry-agnostic core n</a:t>
            </a:r>
          </a:p>
          <a:p>
            <a:pPr algn="ctr">
              <a:buNone/>
            </a:pPr>
            <a:r>
              <a:rPr lang="en-US" sz="1600" b="1" dirty="0" err="1">
                <a:solidFill>
                  <a:schemeClr val="bg1"/>
                </a:solidFill>
              </a:rPr>
              <a:t>ew</a:t>
            </a:r>
            <a:r>
              <a:rPr lang="en-US" sz="1600" b="1" dirty="0">
                <a:solidFill>
                  <a:schemeClr val="bg1"/>
                </a:solidFill>
              </a:rPr>
              <a:t> verticals via tuned fallback data</a:t>
            </a:r>
          </a:p>
        </p:txBody>
      </p:sp>
    </p:spTree>
    <p:extLst>
      <p:ext uri="{BB962C8B-B14F-4D97-AF65-F5344CB8AC3E}">
        <p14:creationId xmlns:p14="http://schemas.microsoft.com/office/powerpoint/2010/main" val="451338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DC40-BDAD-F93F-547B-0BEA6BEE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and Governance</a:t>
            </a:r>
          </a:p>
        </p:txBody>
      </p:sp>
      <p:sp>
        <p:nvSpPr>
          <p:cNvPr id="101" name="RiskCard0"/>
          <p:cNvSpPr/>
          <p:nvPr/>
        </p:nvSpPr>
        <p:spPr>
          <a:xfrm>
            <a:off x="838200" y="1137920"/>
            <a:ext cx="3358533" cy="2323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3" name="TextBox"/>
          <p:cNvSpPr txBox="1"/>
          <p:nvPr/>
        </p:nvSpPr>
        <p:spPr>
          <a:xfrm>
            <a:off x="1078200" y="2370286"/>
            <a:ext cx="2648533" cy="2111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E2841"/>
                </a:solidFill>
              </a:rPr>
              <a:t>DATA PRIVACY</a:t>
            </a:r>
          </a:p>
        </p:txBody>
      </p:sp>
      <p:sp>
        <p:nvSpPr>
          <p:cNvPr id="104" name="TextBox"/>
          <p:cNvSpPr txBox="1"/>
          <p:nvPr/>
        </p:nvSpPr>
        <p:spPr>
          <a:xfrm>
            <a:off x="1078200" y="2643270"/>
            <a:ext cx="2878533" cy="671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3B3B3B"/>
                </a:solidFill>
              </a:rPr>
              <a:t>Only public inputs are used a company URL and the research it produces; no PII or CRM data ingested.</a:t>
            </a:r>
          </a:p>
        </p:txBody>
      </p:sp>
      <p:sp>
        <p:nvSpPr>
          <p:cNvPr id="105" name="RiskCard1"/>
          <p:cNvSpPr/>
          <p:nvPr/>
        </p:nvSpPr>
        <p:spPr>
          <a:xfrm>
            <a:off x="4416733" y="1137920"/>
            <a:ext cx="3358533" cy="2323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7" name="TextBox"/>
          <p:cNvSpPr txBox="1"/>
          <p:nvPr/>
        </p:nvSpPr>
        <p:spPr>
          <a:xfrm>
            <a:off x="4656733" y="2370286"/>
            <a:ext cx="2648533" cy="2111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E2841"/>
                </a:solidFill>
              </a:rPr>
              <a:t>SECURITY</a:t>
            </a:r>
          </a:p>
        </p:txBody>
      </p:sp>
      <p:sp>
        <p:nvSpPr>
          <p:cNvPr id="108" name="TextBox"/>
          <p:cNvSpPr txBox="1"/>
          <p:nvPr/>
        </p:nvSpPr>
        <p:spPr>
          <a:xfrm>
            <a:off x="4656733" y="2643270"/>
            <a:ext cx="2878533" cy="671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3B3B3B"/>
                </a:solidFill>
              </a:rPr>
              <a:t>The OpenAI API key lives server-side only; every AI call is proxied through the backend, never the browser.</a:t>
            </a:r>
            <a:endParaRPr lang="en-US" sz="1100" dirty="0">
              <a:solidFill>
                <a:srgbClr val="3B3B3B"/>
              </a:solidFill>
            </a:endParaRPr>
          </a:p>
        </p:txBody>
      </p:sp>
      <p:sp>
        <p:nvSpPr>
          <p:cNvPr id="109" name="RiskCard2"/>
          <p:cNvSpPr/>
          <p:nvPr/>
        </p:nvSpPr>
        <p:spPr>
          <a:xfrm>
            <a:off x="7995266" y="1137920"/>
            <a:ext cx="3358533" cy="2323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1" name="TextBox"/>
          <p:cNvSpPr txBox="1"/>
          <p:nvPr/>
        </p:nvSpPr>
        <p:spPr>
          <a:xfrm>
            <a:off x="8235266" y="2370286"/>
            <a:ext cx="2648533" cy="2111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E2841"/>
                </a:solidFill>
              </a:rPr>
              <a:t>ACCURACY &amp; RELIABILITY</a:t>
            </a:r>
          </a:p>
        </p:txBody>
      </p:sp>
      <p:sp>
        <p:nvSpPr>
          <p:cNvPr id="112" name="TextBox"/>
          <p:cNvSpPr txBox="1"/>
          <p:nvPr/>
        </p:nvSpPr>
        <p:spPr>
          <a:xfrm>
            <a:off x="8235266" y="2643270"/>
            <a:ext cx="2878533" cy="671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3B3B3B"/>
                </a:solidFill>
              </a:rPr>
              <a:t>Every AI claim links to a tiered citation (Primary /Secondary / Tertiary), so users see the source behind a score.</a:t>
            </a:r>
          </a:p>
        </p:txBody>
      </p:sp>
      <p:sp>
        <p:nvSpPr>
          <p:cNvPr id="113" name="RiskCard3"/>
          <p:cNvSpPr/>
          <p:nvPr/>
        </p:nvSpPr>
        <p:spPr>
          <a:xfrm>
            <a:off x="838200" y="3681240"/>
            <a:ext cx="3358533" cy="2323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5" name="TextBox"/>
          <p:cNvSpPr txBox="1"/>
          <p:nvPr/>
        </p:nvSpPr>
        <p:spPr>
          <a:xfrm>
            <a:off x="1078200" y="4913606"/>
            <a:ext cx="2648533" cy="2111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E2841"/>
                </a:solidFill>
              </a:rPr>
              <a:t>HANDLING AI FAILURE</a:t>
            </a:r>
          </a:p>
        </p:txBody>
      </p:sp>
      <p:sp>
        <p:nvSpPr>
          <p:cNvPr id="116" name="TextBox"/>
          <p:cNvSpPr txBox="1"/>
          <p:nvPr/>
        </p:nvSpPr>
        <p:spPr>
          <a:xfrm>
            <a:off x="1078200" y="5186590"/>
            <a:ext cx="2878533" cy="671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3B3B3B"/>
                </a:solidFill>
              </a:rPr>
              <a:t>Quota/auth errors return clearly flagged simulated data (</a:t>
            </a:r>
            <a:r>
              <a:rPr lang="en-US" sz="1100" dirty="0" err="1">
                <a:solidFill>
                  <a:srgbClr val="3B3B3B"/>
                </a:solidFill>
              </a:rPr>
              <a:t>isFallback</a:t>
            </a:r>
            <a:r>
              <a:rPr lang="en-US" sz="1100" dirty="0">
                <a:solidFill>
                  <a:srgbClr val="3B3B3B"/>
                </a:solidFill>
              </a:rPr>
              <a:t>: true) with a banner never a silent guess.</a:t>
            </a:r>
          </a:p>
        </p:txBody>
      </p:sp>
      <p:sp>
        <p:nvSpPr>
          <p:cNvPr id="117" name="RiskCard4"/>
          <p:cNvSpPr/>
          <p:nvPr/>
        </p:nvSpPr>
        <p:spPr>
          <a:xfrm>
            <a:off x="4416733" y="3681240"/>
            <a:ext cx="3358533" cy="2323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9" name="TextBox"/>
          <p:cNvSpPr txBox="1"/>
          <p:nvPr/>
        </p:nvSpPr>
        <p:spPr>
          <a:xfrm>
            <a:off x="4656733" y="4842900"/>
            <a:ext cx="2648533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350" b="1" dirty="0">
                <a:solidFill>
                  <a:srgbClr val="0E2841"/>
                </a:solidFill>
              </a:rPr>
              <a:t>COMPLIANCE</a:t>
            </a:r>
          </a:p>
        </p:txBody>
      </p:sp>
      <p:sp>
        <p:nvSpPr>
          <p:cNvPr id="120" name="TextBox"/>
          <p:cNvSpPr txBox="1"/>
          <p:nvPr/>
        </p:nvSpPr>
        <p:spPr>
          <a:xfrm>
            <a:off x="4656733" y="5186590"/>
            <a:ext cx="2878533" cy="671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3B3B3B"/>
                </a:solidFill>
              </a:rPr>
              <a:t>No sensitive personal data is stored; state persists only in the user's own browser no server-side database.</a:t>
            </a:r>
          </a:p>
        </p:txBody>
      </p:sp>
      <p:sp>
        <p:nvSpPr>
          <p:cNvPr id="121" name="RiskCard5"/>
          <p:cNvSpPr/>
          <p:nvPr/>
        </p:nvSpPr>
        <p:spPr>
          <a:xfrm>
            <a:off x="7995266" y="3681240"/>
            <a:ext cx="3358533" cy="23233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23" name="TextBox"/>
          <p:cNvSpPr txBox="1"/>
          <p:nvPr/>
        </p:nvSpPr>
        <p:spPr>
          <a:xfrm>
            <a:off x="8235266" y="4913606"/>
            <a:ext cx="2648533" cy="2111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E2841"/>
                </a:solidFill>
              </a:rPr>
              <a:t>HUMAN OVERSIGHT</a:t>
            </a:r>
          </a:p>
        </p:txBody>
      </p:sp>
      <p:sp>
        <p:nvSpPr>
          <p:cNvPr id="124" name="TextBox"/>
          <p:cNvSpPr txBox="1"/>
          <p:nvPr/>
        </p:nvSpPr>
        <p:spPr>
          <a:xfrm>
            <a:off x="8235266" y="5186590"/>
            <a:ext cx="2878533" cy="671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3B3B3B"/>
                </a:solidFill>
              </a:rPr>
              <a:t>The tool drafts a prioritized playbook, not automated outreach a rep always reviews before contact.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3DDD2-4C8C-9528-54F5-C0477CA71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00" y="1382573"/>
            <a:ext cx="972158" cy="805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285E70-9139-41BA-CEBC-D76C0F3AD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475" y="1382573"/>
            <a:ext cx="970402" cy="804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3841AF-9C12-9435-AAA9-62E706B531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50" y="1382572"/>
            <a:ext cx="1023325" cy="8482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C4653E-6F80-343E-19B7-9E2AB7D95C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00" y="3848077"/>
            <a:ext cx="1104250" cy="9153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4F12E7-F123-F29F-0E8E-FFFF017DEC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475" y="3865975"/>
            <a:ext cx="1003864" cy="8321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BD31C1-2ED7-4964-28EC-E13E74DF01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240" y="3909734"/>
            <a:ext cx="1003235" cy="83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160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4DBF-B64F-2DDE-7A08-450068F03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&amp; Live Demo</a:t>
            </a:r>
          </a:p>
        </p:txBody>
      </p:sp>
      <p:sp>
        <p:nvSpPr>
          <p:cNvPr id="101" name="Tick"/>
          <p:cNvSpPr/>
          <p:nvPr/>
        </p:nvSpPr>
        <p:spPr>
          <a:xfrm>
            <a:off x="838200" y="1834237"/>
            <a:ext cx="60000" cy="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2" name="TextBox"/>
          <p:cNvSpPr txBox="1"/>
          <p:nvPr/>
        </p:nvSpPr>
        <p:spPr>
          <a:xfrm>
            <a:off x="978200" y="1881785"/>
            <a:ext cx="4460000" cy="204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SINGLE-PROCESS ARCHITECTURE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838200" y="2164238"/>
            <a:ext cx="4600000" cy="434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3B3B3B"/>
                </a:solidFill>
              </a:rPr>
              <a:t>React 19 + Tailwind v4 + shadcn/ui frontend, served by one Express backend on port 3000   Vite runs as middleware in dev.</a:t>
            </a:r>
          </a:p>
        </p:txBody>
      </p:sp>
      <p:sp>
        <p:nvSpPr>
          <p:cNvPr id="104" name="Tick"/>
          <p:cNvSpPr/>
          <p:nvPr/>
        </p:nvSpPr>
        <p:spPr>
          <a:xfrm>
            <a:off x="838200" y="2996923"/>
            <a:ext cx="60000" cy="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5" name="TextBox"/>
          <p:cNvSpPr txBox="1"/>
          <p:nvPr/>
        </p:nvSpPr>
        <p:spPr>
          <a:xfrm>
            <a:off x="978200" y="3044471"/>
            <a:ext cx="4460000" cy="204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STATE &amp; PERSISTENCE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838200" y="3326923"/>
            <a:ext cx="4600000" cy="6261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3B3B3B"/>
                </a:solidFill>
              </a:rPr>
              <a:t>Reports, accounts, and theme preference persist in the browser (localStorage)  save and reload a full analysis anytime.</a:t>
            </a:r>
          </a:p>
        </p:txBody>
      </p:sp>
      <p:sp>
        <p:nvSpPr>
          <p:cNvPr id="107" name="Tick"/>
          <p:cNvSpPr/>
          <p:nvPr/>
        </p:nvSpPr>
        <p:spPr>
          <a:xfrm>
            <a:off x="838200" y="4230506"/>
            <a:ext cx="60000" cy="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8" name="TextBox"/>
          <p:cNvSpPr txBox="1"/>
          <p:nvPr/>
        </p:nvSpPr>
        <p:spPr>
          <a:xfrm>
            <a:off x="978200" y="4278054"/>
            <a:ext cx="4460000" cy="204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BUILT FOR DEMO RESILIENCE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838200" y="4560506"/>
            <a:ext cx="4600000" cy="4349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3B3B3B"/>
                </a:solidFill>
              </a:rPr>
              <a:t>Dark/light themes, a saved-report library, and the fallback layer keep the live demo coherent even without live AI credits.</a:t>
            </a:r>
          </a:p>
        </p:txBody>
      </p:sp>
      <p:sp>
        <p:nvSpPr>
          <p:cNvPr id="110" name="DemoCard"/>
          <p:cNvSpPr/>
          <p:nvPr/>
        </p:nvSpPr>
        <p:spPr>
          <a:xfrm>
            <a:off x="5788200" y="1397635"/>
            <a:ext cx="5565600" cy="406273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1" name="TextBox"/>
          <p:cNvSpPr txBox="1"/>
          <p:nvPr/>
        </p:nvSpPr>
        <p:spPr>
          <a:xfrm>
            <a:off x="6048200" y="1834237"/>
            <a:ext cx="50456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PIPELINE IN ACTION</a:t>
            </a:r>
          </a:p>
        </p:txBody>
      </p:sp>
      <p:sp>
        <p:nvSpPr>
          <p:cNvPr id="112" name="StepCircle1"/>
          <p:cNvSpPr/>
          <p:nvPr/>
        </p:nvSpPr>
        <p:spPr>
          <a:xfrm>
            <a:off x="6008200" y="2455047"/>
            <a:ext cx="247245" cy="2472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3" name="TextBox"/>
          <p:cNvSpPr txBox="1"/>
          <p:nvPr/>
        </p:nvSpPr>
        <p:spPr>
          <a:xfrm>
            <a:off x="6498200" y="2322595"/>
            <a:ext cx="4445600" cy="474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chemeClr val="bg1"/>
                </a:solidFill>
              </a:rPr>
              <a:t>Enter a company URL on the landing screen</a:t>
            </a:r>
          </a:p>
        </p:txBody>
      </p:sp>
      <p:sp>
        <p:nvSpPr>
          <p:cNvPr id="114" name="StepCircle2"/>
          <p:cNvSpPr/>
          <p:nvPr/>
        </p:nvSpPr>
        <p:spPr>
          <a:xfrm>
            <a:off x="6008200" y="3080673"/>
            <a:ext cx="247245" cy="2472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6498200" y="3013553"/>
            <a:ext cx="4445600" cy="474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chemeClr val="bg1"/>
                </a:solidFill>
              </a:rPr>
              <a:t>Business profile + ICP generate, then auto-chain into account discovery</a:t>
            </a:r>
          </a:p>
        </p:txBody>
      </p:sp>
      <p:sp>
        <p:nvSpPr>
          <p:cNvPr id="116" name="StepCircle3"/>
          <p:cNvSpPr/>
          <p:nvPr/>
        </p:nvSpPr>
        <p:spPr>
          <a:xfrm>
            <a:off x="6008200" y="3851920"/>
            <a:ext cx="247245" cy="2472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7" name="TextBox"/>
          <p:cNvSpPr txBox="1"/>
          <p:nvPr/>
        </p:nvSpPr>
        <p:spPr>
          <a:xfrm>
            <a:off x="6498200" y="3784800"/>
            <a:ext cx="4445600" cy="474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chemeClr val="bg1"/>
                </a:solidFill>
              </a:rPr>
              <a:t>Open any account card for personas, competitors, and stakeholder mapping</a:t>
            </a:r>
          </a:p>
        </p:txBody>
      </p:sp>
      <p:sp>
        <p:nvSpPr>
          <p:cNvPr id="118" name="StepCircle4"/>
          <p:cNvSpPr/>
          <p:nvPr/>
        </p:nvSpPr>
        <p:spPr>
          <a:xfrm>
            <a:off x="6008200" y="4647715"/>
            <a:ext cx="247245" cy="2472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9" name="TextBox"/>
          <p:cNvSpPr txBox="1"/>
          <p:nvPr/>
        </p:nvSpPr>
        <p:spPr>
          <a:xfrm>
            <a:off x="6498200" y="4580595"/>
            <a:ext cx="4445600" cy="474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chemeClr val="bg1"/>
                </a:solidFill>
              </a:rPr>
              <a:t>Cluster tab groups accounts; Partner Pathways scores channel/warm-intro routes</a:t>
            </a:r>
          </a:p>
        </p:txBody>
      </p:sp>
    </p:spTree>
    <p:extLst>
      <p:ext uri="{BB962C8B-B14F-4D97-AF65-F5344CB8AC3E}">
        <p14:creationId xmlns:p14="http://schemas.microsoft.com/office/powerpoint/2010/main" val="1971764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4DBF-B64F-2DDE-7A08-450068F03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&amp; Next Steps</a:t>
            </a:r>
          </a:p>
        </p:txBody>
      </p:sp>
      <p:sp>
        <p:nvSpPr>
          <p:cNvPr id="101" name="Phase0"/>
          <p:cNvSpPr/>
          <p:nvPr/>
        </p:nvSpPr>
        <p:spPr>
          <a:xfrm>
            <a:off x="838200" y="1137920"/>
            <a:ext cx="3338533" cy="165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endParaRPr lang="en-US" sz="1600" b="1" dirty="0">
              <a:solidFill>
                <a:srgbClr val="E97132"/>
              </a:solidFill>
            </a:endParaRPr>
          </a:p>
          <a:p>
            <a:pPr algn="ctr">
              <a:buNone/>
            </a:pPr>
            <a:r>
              <a:rPr lang="en-US" sz="1600" b="1" dirty="0">
                <a:solidFill>
                  <a:srgbClr val="E97132"/>
                </a:solidFill>
              </a:rPr>
              <a:t>Near-term</a:t>
            </a:r>
          </a:p>
          <a:p>
            <a:pPr algn="ctr">
              <a:buNone/>
            </a:pPr>
            <a:r>
              <a:rPr lang="en-US" sz="1300" dirty="0">
                <a:solidFill>
                  <a:srgbClr val="3B3B3B"/>
                </a:solidFill>
              </a:rPr>
              <a:t>CRM write-back (HubSpot/Salesforce) and enrichment API integration (Clearbit/Apollo/ZoomInfo) to sharpen discovery.</a:t>
            </a:r>
          </a:p>
        </p:txBody>
      </p:sp>
      <p:sp>
        <p:nvSpPr>
          <p:cNvPr id="102" name="Arrow"/>
          <p:cNvSpPr/>
          <p:nvPr/>
        </p:nvSpPr>
        <p:spPr>
          <a:xfrm>
            <a:off x="4221733" y="1882920"/>
            <a:ext cx="160000" cy="1600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3" name="Phase1"/>
          <p:cNvSpPr/>
          <p:nvPr/>
        </p:nvSpPr>
        <p:spPr>
          <a:xfrm>
            <a:off x="4426733" y="1137920"/>
            <a:ext cx="3338533" cy="165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endParaRPr lang="en-US" sz="1600" b="1" dirty="0">
              <a:solidFill>
                <a:srgbClr val="E97132"/>
              </a:solidFill>
            </a:endParaRPr>
          </a:p>
          <a:p>
            <a:pPr algn="ctr">
              <a:buNone/>
            </a:pPr>
            <a:r>
              <a:rPr lang="en-US" sz="1600" b="1" dirty="0">
                <a:solidFill>
                  <a:srgbClr val="E97132"/>
                </a:solidFill>
              </a:rPr>
              <a:t>Mid-term</a:t>
            </a:r>
          </a:p>
          <a:p>
            <a:pPr algn="ctr">
              <a:buNone/>
            </a:pPr>
            <a:r>
              <a:rPr lang="en-US" sz="1300" dirty="0">
                <a:solidFill>
                  <a:srgbClr val="3B3B3B"/>
                </a:solidFill>
              </a:rPr>
              <a:t> Multi-user accounts with shared/team report libraries, replacing per-browser localStorage with a real backend store.</a:t>
            </a:r>
          </a:p>
        </p:txBody>
      </p:sp>
      <p:sp>
        <p:nvSpPr>
          <p:cNvPr id="104" name="Arrow"/>
          <p:cNvSpPr/>
          <p:nvPr/>
        </p:nvSpPr>
        <p:spPr>
          <a:xfrm>
            <a:off x="7810266" y="1882920"/>
            <a:ext cx="160000" cy="160000"/>
          </a:xfrm>
          <a:prstGeom prst="rightArrow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5" name="Phase2"/>
          <p:cNvSpPr/>
          <p:nvPr/>
        </p:nvSpPr>
        <p:spPr>
          <a:xfrm>
            <a:off x="8015266" y="1137920"/>
            <a:ext cx="3338533" cy="1650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endParaRPr lang="en-US" sz="1600" b="1" dirty="0">
              <a:solidFill>
                <a:srgbClr val="E97132"/>
              </a:solidFill>
            </a:endParaRPr>
          </a:p>
          <a:p>
            <a:pPr algn="ctr">
              <a:buNone/>
            </a:pPr>
            <a:r>
              <a:rPr lang="en-US" sz="1600" b="1" dirty="0">
                <a:solidFill>
                  <a:srgbClr val="E97132"/>
                </a:solidFill>
              </a:rPr>
              <a:t>Longer-term</a:t>
            </a:r>
          </a:p>
          <a:p>
            <a:pPr algn="ctr">
              <a:buNone/>
            </a:pPr>
            <a:r>
              <a:rPr lang="en-US" sz="1300" dirty="0">
                <a:solidFill>
                  <a:srgbClr val="3B3B3B"/>
                </a:solidFill>
              </a:rPr>
              <a:t>Closed-loop learning  feed outreach outcomes back into the scoring model to continuously recalibrate fit/timing weights.</a:t>
            </a:r>
          </a:p>
        </p:txBody>
      </p:sp>
      <p:sp>
        <p:nvSpPr>
          <p:cNvPr id="106" name="AskCard"/>
          <p:cNvSpPr/>
          <p:nvPr/>
        </p:nvSpPr>
        <p:spPr>
          <a:xfrm>
            <a:off x="838200" y="3137920"/>
            <a:ext cx="10515600" cy="15000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7" name="TextBox"/>
          <p:cNvSpPr txBox="1"/>
          <p:nvPr/>
        </p:nvSpPr>
        <p:spPr>
          <a:xfrm>
            <a:off x="1138200" y="3137920"/>
            <a:ext cx="9915600" cy="1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E97132"/>
                </a:solidFill>
              </a:rPr>
              <a:t>THE ASK</a:t>
            </a:r>
          </a:p>
          <a:p>
            <a:pPr algn="l">
              <a:buNone/>
            </a:pPr>
            <a:endParaRPr lang="en-US" sz="1200" b="1" dirty="0">
              <a:solidFill>
                <a:srgbClr val="E97132"/>
              </a:solidFill>
            </a:endParaRPr>
          </a:p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Feedback from judges on which persona AE/SDR, RevOps, or channel teams  to prioritize for the next iteration.</a:t>
            </a:r>
          </a:p>
        </p:txBody>
      </p:sp>
    </p:spTree>
    <p:extLst>
      <p:ext uri="{BB962C8B-B14F-4D97-AF65-F5344CB8AC3E}">
        <p14:creationId xmlns:p14="http://schemas.microsoft.com/office/powerpoint/2010/main" val="197176400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68ba660-5f45-496f-a9ab-41e0b38c5a82}" enabled="0" method="" siteId="{868ba660-5f45-496f-a9ab-41e0b38c5a8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12650</TotalTime>
  <Words>859</Words>
  <Application>Microsoft Office PowerPoint</Application>
  <PresentationFormat>Widescreen</PresentationFormat>
  <Paragraphs>116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1_Office Theme</vt:lpstr>
      <vt:lpstr>Team Name</vt:lpstr>
      <vt:lpstr>Business Relevance</vt:lpstr>
      <vt:lpstr>Impact and Return On Investment (ROI)</vt:lpstr>
      <vt:lpstr>AI and Technical Approach</vt:lpstr>
      <vt:lpstr>Adoption and Scalability</vt:lpstr>
      <vt:lpstr>Risk and Governance</vt:lpstr>
      <vt:lpstr>Architecture &amp; Live Demo</vt:lpstr>
      <vt:lpstr>Roadmap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BD Team Org Structure &amp; TA Strategy Nov-2025  Prepared By Preeta Bahugune</dc:title>
  <dc:creator>CEO-office-Team1</dc:creator>
  <cp:lastModifiedBy>Sasikumar Rajendran</cp:lastModifiedBy>
  <cp:revision>382</cp:revision>
  <dcterms:created xsi:type="dcterms:W3CDTF">2025-10-08T05:03:54Z</dcterms:created>
  <dcterms:modified xsi:type="dcterms:W3CDTF">2026-08-03T05:58:30Z</dcterms:modified>
</cp:coreProperties>
</file>